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94749" autoAdjust="0"/>
  </p:normalViewPr>
  <p:slideViewPr>
    <p:cSldViewPr snapToGrid="0" snapToObjects="1">
      <p:cViewPr varScale="1">
        <p:scale>
          <a:sx n="148" d="100"/>
          <a:sy n="148" d="100"/>
        </p:scale>
        <p:origin x="616" y="17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5/31/26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‹Nr.›</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Guten Tag, mein Name ist [Name] und ich präsentiere heute gemeinsam mit meinen Kolleginnen und Kollegen unsere Projektergebnisse aus dem Modul MW220. Wir sind Gruppe 2 und haben uns mit der drahtlosen Sensoranbindung, der MQTT-Kommunikation und der Datenverarbeitung mit Node-RED beschäftigt. Unsere Präsentation gliedert sich in vier Teile – zunächst stelle ich den Projektkontext vor, dann folgen die technischen Grundlagen, die Implementierung und abschließend die Live-Demo.</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Das übergreifende Lehrprojekt heißt „LEGO Mindstorms Color Sorter meets Industrie 4.0”. Grundlage ist ein LEGO EV3-System, das Bausteine nach Farben sortiert – ein vereinfachtes Modell einer industriellen Produktionsanlage. Vier Gruppen decken zusammen die gesamte IoT-Wertschöpfungskette ab. Unsere Gruppe 2 ist das Bindeglied zwischen der physischen Welt – dem Sensor – und der digitalen Verarbeitungsinfrastruktur.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dirty="0" err="1"/>
              <a:t>Unsere</a:t>
            </a:r>
            <a:r>
              <a:rPr dirty="0"/>
              <a:t> </a:t>
            </a:r>
            <a:r>
              <a:rPr dirty="0" err="1"/>
              <a:t>drei</a:t>
            </a:r>
            <a:r>
              <a:rPr dirty="0"/>
              <a:t> </a:t>
            </a:r>
            <a:r>
              <a:rPr dirty="0" err="1"/>
              <a:t>Teilziele</a:t>
            </a:r>
            <a:r>
              <a:rPr dirty="0"/>
              <a:t> </a:t>
            </a:r>
            <a:r>
              <a:rPr dirty="0" err="1"/>
              <a:t>bauen</a:t>
            </a:r>
            <a:r>
              <a:rPr dirty="0"/>
              <a:t> </a:t>
            </a:r>
            <a:r>
              <a:rPr dirty="0" err="1"/>
              <a:t>aufeinander</a:t>
            </a:r>
            <a:r>
              <a:rPr dirty="0"/>
              <a:t> auf. </a:t>
            </a:r>
            <a:r>
              <a:rPr dirty="0" err="1"/>
              <a:t>Zuerst</a:t>
            </a:r>
            <a:r>
              <a:rPr dirty="0"/>
              <a:t> </a:t>
            </a:r>
            <a:r>
              <a:rPr dirty="0" err="1"/>
              <a:t>müssen</a:t>
            </a:r>
            <a:r>
              <a:rPr dirty="0"/>
              <a:t> die </a:t>
            </a:r>
            <a:r>
              <a:rPr dirty="0" err="1"/>
              <a:t>Sensordaten</a:t>
            </a:r>
            <a:r>
              <a:rPr dirty="0"/>
              <a:t> </a:t>
            </a:r>
            <a:r>
              <a:rPr dirty="0" err="1"/>
              <a:t>drahtlos</a:t>
            </a:r>
            <a:r>
              <a:rPr dirty="0"/>
              <a:t> </a:t>
            </a:r>
            <a:r>
              <a:rPr dirty="0" err="1"/>
              <a:t>vom</a:t>
            </a:r>
            <a:r>
              <a:rPr dirty="0"/>
              <a:t> TI </a:t>
            </a:r>
            <a:r>
              <a:rPr dirty="0" err="1"/>
              <a:t>SensorTag</a:t>
            </a:r>
            <a:r>
              <a:rPr dirty="0"/>
              <a:t> CC2650 </a:t>
            </a:r>
            <a:r>
              <a:rPr dirty="0" err="1"/>
              <a:t>zum</a:t>
            </a:r>
            <a:r>
              <a:rPr dirty="0"/>
              <a:t> Raspberry Pi </a:t>
            </a:r>
            <a:r>
              <a:rPr dirty="0" err="1"/>
              <a:t>gelangen</a:t>
            </a:r>
            <a:r>
              <a:rPr dirty="0"/>
              <a:t> – das </a:t>
            </a:r>
            <a:r>
              <a:rPr dirty="0" err="1"/>
              <a:t>ist</a:t>
            </a:r>
            <a:r>
              <a:rPr dirty="0"/>
              <a:t> Bluetooth. Dann </a:t>
            </a:r>
            <a:r>
              <a:rPr dirty="0" err="1"/>
              <a:t>werden</a:t>
            </a:r>
            <a:r>
              <a:rPr dirty="0"/>
              <a:t> die </a:t>
            </a:r>
            <a:r>
              <a:rPr dirty="0" err="1"/>
              <a:t>Daten</a:t>
            </a:r>
            <a:r>
              <a:rPr dirty="0"/>
              <a:t> </a:t>
            </a:r>
            <a:r>
              <a:rPr dirty="0" err="1"/>
              <a:t>über</a:t>
            </a:r>
            <a:r>
              <a:rPr dirty="0"/>
              <a:t> MQTT an den </a:t>
            </a:r>
            <a:r>
              <a:rPr dirty="0" err="1"/>
              <a:t>zentralen</a:t>
            </a:r>
            <a:r>
              <a:rPr dirty="0"/>
              <a:t> Broker </a:t>
            </a:r>
            <a:r>
              <a:rPr dirty="0" err="1"/>
              <a:t>weitergeleitet</a:t>
            </a:r>
            <a:r>
              <a:rPr dirty="0"/>
              <a:t>. Und </a:t>
            </a:r>
            <a:r>
              <a:rPr dirty="0" err="1"/>
              <a:t>schließlich</a:t>
            </a:r>
            <a:r>
              <a:rPr dirty="0"/>
              <a:t> </a:t>
            </a:r>
            <a:r>
              <a:rPr dirty="0" err="1"/>
              <a:t>verarbeitet</a:t>
            </a:r>
            <a:r>
              <a:rPr dirty="0"/>
              <a:t> Node-RED </a:t>
            </a:r>
            <a:r>
              <a:rPr dirty="0" err="1"/>
              <a:t>diese</a:t>
            </a:r>
            <a:r>
              <a:rPr dirty="0"/>
              <a:t> </a:t>
            </a:r>
            <a:r>
              <a:rPr dirty="0" err="1"/>
              <a:t>Daten</a:t>
            </a:r>
            <a:r>
              <a:rPr dirty="0"/>
              <a:t> am Edge: </a:t>
            </a:r>
            <a:r>
              <a:rPr dirty="0" err="1"/>
              <a:t>filtert</a:t>
            </a:r>
            <a:r>
              <a:rPr dirty="0"/>
              <a:t>, </a:t>
            </a:r>
            <a:r>
              <a:rPr dirty="0" err="1"/>
              <a:t>strukturiert</a:t>
            </a:r>
            <a:r>
              <a:rPr dirty="0"/>
              <a:t> und </a:t>
            </a:r>
            <a:r>
              <a:rPr dirty="0" err="1"/>
              <a:t>stellt</a:t>
            </a:r>
            <a:r>
              <a:rPr dirty="0"/>
              <a:t> </a:t>
            </a:r>
            <a:r>
              <a:rPr dirty="0" err="1"/>
              <a:t>sie</a:t>
            </a:r>
            <a:r>
              <a:rPr dirty="0"/>
              <a:t> den </a:t>
            </a:r>
            <a:r>
              <a:rPr dirty="0" err="1"/>
              <a:t>nachgelagerten</a:t>
            </a:r>
            <a:r>
              <a:rPr dirty="0"/>
              <a:t> Gruppen in </a:t>
            </a:r>
            <a:r>
              <a:rPr dirty="0" err="1"/>
              <a:t>einem</a:t>
            </a:r>
            <a:r>
              <a:rPr dirty="0"/>
              <a:t> </a:t>
            </a:r>
            <a:r>
              <a:rPr dirty="0" err="1"/>
              <a:t>einheitlichen</a:t>
            </a:r>
            <a:r>
              <a:rPr dirty="0"/>
              <a:t> Format </a:t>
            </a:r>
            <a:r>
              <a:rPr dirty="0" err="1"/>
              <a:t>bereit</a:t>
            </a:r>
            <a:r>
              <a:rPr dirty="0"/>
              <a:t>. </a:t>
            </a:r>
            <a:r>
              <a:rPr dirty="0" err="1"/>
              <a:t>Ohne</a:t>
            </a:r>
            <a:r>
              <a:rPr dirty="0"/>
              <a:t> </a:t>
            </a:r>
            <a:r>
              <a:rPr dirty="0" err="1"/>
              <a:t>unser</a:t>
            </a:r>
            <a:r>
              <a:rPr dirty="0"/>
              <a:t> </a:t>
            </a:r>
            <a:r>
              <a:rPr dirty="0" err="1"/>
              <a:t>Bindeglied</a:t>
            </a:r>
            <a:r>
              <a:rPr dirty="0"/>
              <a:t> </a:t>
            </a:r>
            <a:r>
              <a:rPr dirty="0" err="1"/>
              <a:t>hätte</a:t>
            </a:r>
            <a:r>
              <a:rPr dirty="0"/>
              <a:t> </a:t>
            </a:r>
            <a:r>
              <a:rPr dirty="0" err="1"/>
              <a:t>keine</a:t>
            </a:r>
            <a:r>
              <a:rPr dirty="0"/>
              <a:t> der </a:t>
            </a:r>
            <a:r>
              <a:rPr dirty="0" err="1"/>
              <a:t>anderen</a:t>
            </a:r>
            <a:r>
              <a:rPr dirty="0"/>
              <a:t> Gruppen </a:t>
            </a:r>
            <a:r>
              <a:rPr dirty="0" err="1"/>
              <a:t>Sensordaten</a:t>
            </a:r>
            <a:r>
              <a:rPr dirty="0"/>
              <a:t> </a:t>
            </a:r>
            <a:r>
              <a:rPr dirty="0" err="1"/>
              <a:t>zur</a:t>
            </a:r>
            <a:r>
              <a:rPr dirty="0"/>
              <a:t> </a:t>
            </a:r>
            <a:r>
              <a:rPr dirty="0" err="1"/>
              <a:t>Verfügung</a:t>
            </a:r>
            <a:r>
              <a:rPr dirty="0"/>
              <a:t>.</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Diese Folie zeigt die vollständige Architektur unseres Teilsystems. Der TI SensorTag sendet per Bluetooth Low Energy Messdaten an den Raspberry Pi. Ein Python-Skript empfängt diese Daten und publiziert sie als JSON auf dem MQTT-Topic „Sensor”. Der zentrale Broker auf IWILR4-11 verteilt die Nachrichten, Node-RED abonniert sie und verarbeitet sie zu strukturierten Observations, die dann über vier Topics an die nachgelagerten Gruppen bereitstehen. Das entspricht dem klassischen IoT-Drei-Schichten-Modell. Ich übergebe jetzt an [Person 2] für die theoretischen Grundlagen.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Guten Tag, ich bin [Name] und erläutere die technologischen Grundlagen. Beginnen wir mit Bluetooth Low Energy. BLE ist seit 2010 standardisiert und auf minimalen Stromverbrauch optimiert. Das für uns wichtige Konzept ist das GATT-Protokoll: Der Raspberry Pi als Central fragt Daten vom SensorTag als Peripheral ab. Durch Notifications bekommen wir automatisch einen neuen Wert, sobald sich etwas ändert. BLE war für uns die richtige Wahl, weil der SensorTag es nativ unterstützt und wir keine zusätzliche Hardware brauchen.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MQTT ist das meistverwendete Protokoll im IoT-Umfeld. Das Publish/Subscribe-Modell entkoppelt Datenproduzenten von Datenkonsumenten vollständig. Unser Python-Skript publiziert Sensordaten an den Broker, ohne zu wissen, wer sie konsumiert. Wenn eine neue Gruppe Daten benötigt, abonniert sie einfach das passende Topic – ohne dass wir etwas ändern müssen. Wir nutzen QoS 2 für den Eingang, weil jede Messung exakt einmal verarbeitet werden soll. Im Vergleich zu HTTP ist der Overhead verschwindend gering – entscheidend für ressourcenbeschränkte Geräte.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Edge Computing bedeutet: Wir verarbeiten die Daten nicht in der Cloud, sondern direkt auf dem Raspberry Pi im Hochschulnetz. Das hat drei wesentliche Vorteile: kürzere Latenzen, weniger Datenvolumen und das System funktioniert auch bei Verbindungsabbruch. Node-RED ist das Werkzeug, mit dem wir diese Edge-Verarbeitung visuell implementieren. Es realisiert klassische Stream-Processing-Konzepte: fortlaufende Filterung, zeitliche Drosselung und Schwellenwertüberwachung. Das sehen wir gleich in der Live-Demo. Ich übergebe an [Person 3].</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Guten Tag, ich bin [Name] und zeige unsere Implementierung. Wir haben die Bluetooth-Anbindung in zwei Schritten entwickelt. Zuerst ein Discovery-Skript, das sich mit dem SensorTag verbindet und alle GATT-Services auflistet – damit konnten wir die richtigen UUIDs identifizieren. Das Produktivskript aktiviert dann jeden Sensor durch Schreiben von 0x01 in das Config-Charakteristikum und abonniert die Notifications. Bei jeder neuen Messung wandelt der Handler die Rohdaten in JSON um und publiziert es auf dem MQTT-Topic „Sensor”.</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Die MQTT-Infrastruktur ist in zwei Stufen aufgebaut. Das Python-Skript publiziert kompakte Rohdaten auf dem Topic „Sensor”. Node-RED abonniert dieses Topic, transformiert die Rohdaten und publiziert strukturierte Observation-Nachrichten auf vier spezifischen Ausgangs-Topics. Das Observation-Format enthält alle Metadaten, die nachgelagerte Gruppen benötigen: Geräte-ID, Sensortyp, Standort, Messwert mit Einheit und ISO-8601-Zeitstempel. Dieser Screenshot zeigt die Nachrichten in Echtzeit.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Das ist unser Node-RED Flow. Er startet mit einem MQTT-Input-Node, der alle Sensornachrichten auf dem Topic „Sensor” empfängt. Der Switch-Node „Splitter” analysiert den Typ jeder Nachricht und leitet sie in den richtigen Zweig: Luftdruck, Luftfeuchtigkeit, Licht oder Temperatur. In jedem Zweig drosselt ein Rate-Limiter den Durchsatz auf eine Nachricht pro Minute. Eine Function-Node formatiert die Daten in das Observation-Format, und ein MQTT-Output-Node publiziert das Ergebnis.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Der Rate-Limiter ist eine der wichtigsten Designentscheidungen: Der SensorTag sendet mehrfach pro Sekunde – für eine Zustandsüberwachung ist das zu viel. Wir drosseln auf eine Nachricht pro Minute, was einer Datenreduktion von fast 98 Prozent entspricht. Der Splitter nutzt JSONata-Ausdrücke, eine für Node-RED typische Abfragesprache. Die Function-Node transformiert die Rohdaten in das Observation-Format und konvertiert dabei auch den Unix-Timestamp in einen ISO-8601-String.</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Zusätzlich zur regulären Datenweiterleitung haben wir eine Alarm- und Trendlogik implementiert. Für Temperatur und Licht gibt es kritische Schwellenwerte, bei deren Überschreitung eine Sprachausgabe ausgelöst wird. Besonders interessant ist die Trendüberwachung: Ein Switch-Node vergleicht jeden neuen Wert mit dem vorherigen. Bei einer Änderung leiten wir sofort weiter. Bleibt der Wert gleich, wird nur einmal pro Minute aktualisiert. Das werden wir gleich live sehen. Ich übergebe an [Person 4].</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JETZT DEMO STARTEN – FOLIENWECHSEL PAUSIEREN!</a:t>
            </a:r>
          </a:p>
          <a:p>
            <a:pPr marL="0" lvl="0" indent="0">
              <a:buNone/>
            </a:pPr>
            <a:endParaRPr/>
          </a:p>
          <a:p>
            <a:pPr marL="0" lvl="0" indent="0">
              <a:buNone/>
            </a:pPr>
            <a:r>
              <a:t>Person 4 führt durch: - Terminal: python3 sensor.py - Links: MQTT Explorer (Topics: Sensor + Factory/#) - Rechts: Node-RED Debug-Panel - Sensor mit Händen erwärmen → Trend beobachten - Sensor abdecken → Alarm abwarten Erst nach der Demo zur nächsten Folie wechseln!</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Fassen wir die Ergebnisse zusammen. Alle drei Teilziele wurden vollständig erreicht. Die Bluetooth-Verbindung ist stabil und liefert alle vier Sensortypen. Die MQTT-Infrastruktur funktioniert zuverlässig als Drehscheibe. Und der Node-RED Flow verarbeitet, filtert und formatiert die Daten korrekt – wie wir gerade in der Demo gesehen haben.</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Natürlich verlief die Umsetzung nicht ohne Herausforderungen. [Hier eigene Erfahrungen einbringen.] Was wir gelernt haben: Bei einem Projekt aus so vielen Teilsystemen ist die Abstimmung zwischen den Gruppen genauso wichtig wie die technische Implementierung selbst.</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Zur kritischen Würdigung: Alle gewählten Technologien sind für das Projekt gut geeignet. BLE deckt die Laborumgebung problemlos ab. MQTT hat sich als ideales Protokoll erwiesen. Node-RED ist für unseren Prototyp ausgezeichnet, würde aber bei deutlich höherem Datenvolumen an seine Grenzen stoßen. Für die Zukunft sehen wir drei Handlungsfelder: Sicherheit durch TLS, Skalierung des Brokers und ML für prädiktive Wartung.</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Damit komme ich zum Ende unserer Präsentation. Wir haben gezeigt, wie der TI SensorTag per Bluetooth Low Energy Daten liefert, wie diese über MQTT durch unser System fließen und wie Node-RED am Edge für Filterung, Formatierung und Alarmierung sorgt. Wir stehen für Fragen bereit.</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5/31/26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5/31/26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5/31/26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5/31/26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5/31/26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‹Nr.›</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5/31/26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‹Nr.›</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marL="0" lvl="0" indent="0">
              <a:buNone/>
            </a:pPr>
            <a:r>
              <a:t>TI Sensor Bluetooth- und MQTT-Anbindung</a:t>
            </a:r>
          </a:p>
        </p:txBody>
      </p:sp>
      <p:sp>
        <p:nvSpPr>
          <p:cNvPr id="3" name="Subtitle 2"/>
          <p:cNvSpPr>
            <a:spLocks noGrp="1"/>
          </p:cNvSpPr>
          <p:nvPr>
            <p:ph type="subTitle" idx="1"/>
          </p:nvPr>
        </p:nvSpPr>
        <p:spPr>
          <a:xfrm>
            <a:off x="1371600" y="2914650"/>
            <a:ext cx="6400800" cy="1314450"/>
          </a:xfrm>
        </p:spPr>
        <p:txBody>
          <a:bodyPr/>
          <a:lstStyle/>
          <a:p>
            <a:pPr marL="0" lvl="0" indent="0">
              <a:buNone/>
            </a:pPr>
            <a:r>
              <a:t>Edge Computing mit Filterung der Sensordaten für die Zustandsüberwachung</a:t>
            </a:r>
            <a:br/>
            <a:br/>
            <a:r>
              <a:t>Gruppe 2 – MW220 IoT Technologien und Anwendungen</a:t>
            </a:r>
          </a:p>
        </p:txBody>
      </p:sp>
      <p:sp>
        <p:nvSpPr>
          <p:cNvPr id="4" name="Date Placeholder 3"/>
          <p:cNvSpPr>
            <a:spLocks noGrp="1"/>
          </p:cNvSpPr>
          <p:nvPr>
            <p:ph type="dt" sz="half" idx="10"/>
          </p:nvPr>
        </p:nvSpPr>
        <p:spPr/>
        <p:txBody>
          <a:bodyPr/>
          <a:lstStyle/>
          <a:p>
            <a:pPr marL="0" lvl="0" indent="0">
              <a:buNone/>
            </a:pPr>
            <a:r>
              <a:t>11. Juni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Projektkontext &amp; Systemarchitektur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Agenda</a:t>
            </a:r>
          </a:p>
        </p:txBody>
      </p:sp>
      <p:sp>
        <p:nvSpPr>
          <p:cNvPr id="3" name="Content Placeholder 2"/>
          <p:cNvSpPr>
            <a:spLocks noGrp="1"/>
          </p:cNvSpPr>
          <p:nvPr>
            <p:ph idx="1"/>
          </p:nvPr>
        </p:nvSpPr>
        <p:spPr/>
        <p:txBody>
          <a:bodyPr/>
          <a:lstStyle/>
          <a:p>
            <a:pPr lvl="0"/>
            <a:r>
              <a:rPr b="1"/>
              <a:t>Teil 1</a:t>
            </a:r>
            <a:r>
              <a:t> – Projektkontext &amp; Systemarchitektur </a:t>
            </a:r>
            <a:r>
              <a:rPr i="1"/>
              <a:t>(Person 1)</a:t>
            </a:r>
          </a:p>
          <a:p>
            <a:pPr lvl="0"/>
            <a:r>
              <a:rPr b="1"/>
              <a:t>Teil 2</a:t>
            </a:r>
            <a:r>
              <a:t> – Theoretische Grundlagen: Bluetooth, MQTT, Edge Computing </a:t>
            </a:r>
            <a:r>
              <a:rPr i="1"/>
              <a:t>(Person 2)</a:t>
            </a:r>
          </a:p>
          <a:p>
            <a:pPr lvl="0"/>
            <a:r>
              <a:rPr b="1"/>
              <a:t>Teil 3</a:t>
            </a:r>
            <a:r>
              <a:t> – Implementierung: Python, MQTT-Konfiguration, Node-RED </a:t>
            </a:r>
            <a:r>
              <a:rPr i="1"/>
              <a:t>(Person 3)</a:t>
            </a:r>
          </a:p>
          <a:p>
            <a:pPr lvl="0"/>
            <a:r>
              <a:rPr b="1"/>
              <a:t>Teil 4</a:t>
            </a:r>
            <a:r>
              <a:t> – Live-Demo &amp; Fazit </a:t>
            </a:r>
            <a:r>
              <a:rPr i="1"/>
              <a:t>(Person 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Das Gesamtprojekt</a:t>
            </a:r>
          </a:p>
        </p:txBody>
      </p:sp>
      <p:sp>
        <p:nvSpPr>
          <p:cNvPr id="4" name="Text Placeholder 3"/>
          <p:cNvSpPr>
            <a:spLocks noGrp="1"/>
          </p:cNvSpPr>
          <p:nvPr>
            <p:ph type="body" sz="half" idx="2"/>
          </p:nvPr>
        </p:nvSpPr>
        <p:spPr/>
        <p:txBody>
          <a:bodyPr/>
          <a:lstStyle/>
          <a:p>
            <a:pPr marL="0" lvl="0" indent="0">
              <a:buNone/>
            </a:pPr>
            <a:r>
              <a:rPr b="1"/>
              <a:t>„LEGO Mindstorms Color Sorter meets Industrie 4.0”</a:t>
            </a:r>
          </a:p>
          <a:p>
            <a:pPr marL="0" lvl="0" indent="0">
              <a:buNone/>
            </a:pPr>
            <a:r>
              <a:t>Ein LEGO Mindstorms EV3-System sortiert Bausteine nach Farbe – eingebettet in eine vollständige IoT-Infrastruktur.</a:t>
            </a:r>
          </a:p>
        </p:txBody>
      </p:sp>
      <p:graphicFrame>
        <p:nvGraphicFramePr>
          <p:cNvPr id="6" name="Content Placeholder 5"/>
          <p:cNvGraphicFramePr>
            <a:graphicFrameLocks noGrp="1"/>
          </p:cNvGraphicFramePr>
          <p:nvPr>
            <p:ph idx="1"/>
          </p:nvPr>
        </p:nvGraphicFramePr>
        <p:xfrm>
          <a:off x="3568700" y="203200"/>
          <a:ext cx="5105400" cy="210312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0">
                <a:tc>
                  <a:txBody>
                    <a:bodyPr/>
                    <a:lstStyle/>
                    <a:p>
                      <a:pPr marL="0" lvl="0" indent="0">
                        <a:buNone/>
                      </a:pPr>
                      <a:r>
                        <a:t>Gruppe</a:t>
                      </a:r>
                    </a:p>
                  </a:txBody>
                  <a:tcPr/>
                </a:tc>
                <a:tc>
                  <a:txBody>
                    <a:bodyPr/>
                    <a:lstStyle/>
                    <a:p>
                      <a:pPr marL="0" lvl="0" indent="0">
                        <a:buNone/>
                      </a:pPr>
                      <a:r>
                        <a:t>Aufgabe</a:t>
                      </a:r>
                    </a:p>
                  </a:txBody>
                  <a:tcPr/>
                </a:tc>
                <a:extLst>
                  <a:ext uri="{0D108BD9-81ED-4DB2-BD59-A6C34878D82A}">
                    <a16:rowId xmlns:a16="http://schemas.microsoft.com/office/drawing/2014/main" val="10000"/>
                  </a:ext>
                </a:extLst>
              </a:tr>
              <a:tr h="0">
                <a:tc>
                  <a:txBody>
                    <a:bodyPr/>
                    <a:lstStyle/>
                    <a:p>
                      <a:pPr marL="0" lvl="0" indent="0">
                        <a:buNone/>
                      </a:pPr>
                      <a:r>
                        <a:t>Gruppe 1</a:t>
                      </a:r>
                    </a:p>
                  </a:txBody>
                  <a:tcPr/>
                </a:tc>
                <a:tc>
                  <a:txBody>
                    <a:bodyPr/>
                    <a:lstStyle/>
                    <a:p>
                      <a:pPr marL="0" lvl="0" indent="0">
                        <a:buNone/>
                      </a:pPr>
                      <a:r>
                        <a:t>LEGO EV3 Steuerung &amp; Sensorauslese</a:t>
                      </a:r>
                    </a:p>
                  </a:txBody>
                  <a:tcPr/>
                </a:tc>
                <a:extLst>
                  <a:ext uri="{0D108BD9-81ED-4DB2-BD59-A6C34878D82A}">
                    <a16:rowId xmlns:a16="http://schemas.microsoft.com/office/drawing/2014/main" val="10001"/>
                  </a:ext>
                </a:extLst>
              </a:tr>
              <a:tr h="0">
                <a:tc>
                  <a:txBody>
                    <a:bodyPr/>
                    <a:lstStyle/>
                    <a:p>
                      <a:pPr marL="0" lvl="0" indent="0">
                        <a:buNone/>
                      </a:pPr>
                      <a:r>
                        <a:rPr b="1"/>
                        <a:t>Gruppe 2</a:t>
                      </a:r>
                    </a:p>
                  </a:txBody>
                  <a:tcPr/>
                </a:tc>
                <a:tc>
                  <a:txBody>
                    <a:bodyPr/>
                    <a:lstStyle/>
                    <a:p>
                      <a:pPr marL="0" lvl="0" indent="0">
                        <a:buNone/>
                      </a:pPr>
                      <a:r>
                        <a:rPr b="1"/>
                        <a:t>BT-Anbindung, MQTT, Edge Computing (Node-RED)</a:t>
                      </a:r>
                    </a:p>
                  </a:txBody>
                  <a:tcPr/>
                </a:tc>
                <a:extLst>
                  <a:ext uri="{0D108BD9-81ED-4DB2-BD59-A6C34878D82A}">
                    <a16:rowId xmlns:a16="http://schemas.microsoft.com/office/drawing/2014/main" val="10002"/>
                  </a:ext>
                </a:extLst>
              </a:tr>
              <a:tr h="0">
                <a:tc>
                  <a:txBody>
                    <a:bodyPr/>
                    <a:lstStyle/>
                    <a:p>
                      <a:pPr marL="0" lvl="0" indent="0">
                        <a:buNone/>
                      </a:pPr>
                      <a:r>
                        <a:t>Gruppe 3</a:t>
                      </a:r>
                    </a:p>
                  </a:txBody>
                  <a:tcPr/>
                </a:tc>
                <a:tc>
                  <a:txBody>
                    <a:bodyPr/>
                    <a:lstStyle/>
                    <a:p>
                      <a:pPr marL="0" lvl="0" indent="0">
                        <a:buNone/>
                      </a:pPr>
                      <a:r>
                        <a:t>Datenbankanbindung (MariaDB)</a:t>
                      </a:r>
                    </a:p>
                  </a:txBody>
                  <a:tcPr/>
                </a:tc>
                <a:extLst>
                  <a:ext uri="{0D108BD9-81ED-4DB2-BD59-A6C34878D82A}">
                    <a16:rowId xmlns:a16="http://schemas.microsoft.com/office/drawing/2014/main" val="10003"/>
                  </a:ext>
                </a:extLst>
              </a:tr>
              <a:tr h="0">
                <a:tc>
                  <a:txBody>
                    <a:bodyPr/>
                    <a:lstStyle/>
                    <a:p>
                      <a:pPr marL="0" lvl="0" indent="0">
                        <a:buNone/>
                      </a:pPr>
                      <a:r>
                        <a:t>Gruppe 4</a:t>
                      </a:r>
                    </a:p>
                  </a:txBody>
                  <a:tcPr/>
                </a:tc>
                <a:tc>
                  <a:txBody>
                    <a:bodyPr/>
                    <a:lstStyle/>
                    <a:p>
                      <a:pPr marL="0" lvl="0" indent="0">
                        <a:buNone/>
                      </a:pPr>
                      <a:r>
                        <a:t>ThingsBoard-Dashboard &amp; Visualisierung</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 Vier Gruppen bilden gemeinsam eine durchgängige Industrie-4.0-Pipeline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Aufgabe Gruppe 2: Drei Teilziele</a:t>
            </a:r>
          </a:p>
        </p:txBody>
      </p:sp>
      <p:sp>
        <p:nvSpPr>
          <p:cNvPr id="3" name="Content Placeholder 2"/>
          <p:cNvSpPr>
            <a:spLocks noGrp="1"/>
          </p:cNvSpPr>
          <p:nvPr>
            <p:ph idx="1"/>
          </p:nvPr>
        </p:nvSpPr>
        <p:spPr/>
        <p:txBody>
          <a:bodyPr/>
          <a:lstStyle/>
          <a:p>
            <a:pPr marL="0" lvl="0" indent="0">
              <a:buNone/>
            </a:pPr>
            <a:r>
              <a:rPr b="1"/>
              <a:t>Teilziel 1 – Bluetooth-Anbindung</a:t>
            </a:r>
          </a:p>
          <a:p>
            <a:pPr lvl="0"/>
            <a:r>
              <a:t>TI SensorTag CC2650 → Raspberry Pi</a:t>
            </a:r>
          </a:p>
          <a:p>
            <a:pPr lvl="0"/>
            <a:r>
              <a:t>Drahtlose Übertragung von Temperatur, Licht, Luftdruck, Luftfeuchtigkeit</a:t>
            </a:r>
          </a:p>
          <a:p>
            <a:pPr marL="0" lvl="0" indent="0">
              <a:buNone/>
            </a:pPr>
            <a:r>
              <a:rPr b="1"/>
              <a:t>Teilziel 2 – MQTT-Weiterleitung</a:t>
            </a:r>
          </a:p>
          <a:p>
            <a:pPr lvl="0"/>
            <a:r>
              <a:t>Raspberry Pi → MQTT-Broker (IWILR4-11)</a:t>
            </a:r>
          </a:p>
          <a:p>
            <a:pPr lvl="0"/>
            <a:r>
              <a:t>Strukturierte Topics, JSON-Payload, QoS 2</a:t>
            </a:r>
          </a:p>
          <a:p>
            <a:pPr marL="0" lvl="0" indent="0">
              <a:buNone/>
            </a:pPr>
            <a:r>
              <a:rPr b="1"/>
              <a:t>Teilziel 3 – Edge Computing &amp; Filterung</a:t>
            </a:r>
          </a:p>
          <a:p>
            <a:pPr lvl="0"/>
            <a:r>
              <a:t>Node-RED auf IWILR4-10</a:t>
            </a:r>
          </a:p>
          <a:p>
            <a:pPr lvl="0"/>
            <a:r>
              <a:t>Rate-Limiting, Observation-Format, Alarm-Logik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Systemarchitektur Gruppe 2</a:t>
            </a:r>
          </a:p>
        </p:txBody>
      </p:sp>
      <p:sp>
        <p:nvSpPr>
          <p:cNvPr id="3" name="Content Placeholder 2"/>
          <p:cNvSpPr>
            <a:spLocks noGrp="1"/>
          </p:cNvSpPr>
          <p:nvPr>
            <p:ph idx="1"/>
          </p:nvPr>
        </p:nvSpPr>
        <p:spPr/>
        <p:txBody>
          <a:bodyPr/>
          <a:lstStyle/>
          <a:p>
            <a:pPr lvl="0" indent="0">
              <a:buNone/>
            </a:pPr>
            <a:r>
              <a:rPr dirty="0">
                <a:latin typeface="Courier"/>
              </a:rPr>
              <a:t>TI CC2650 </a:t>
            </a:r>
            <a:r>
              <a:rPr dirty="0" err="1">
                <a:latin typeface="Courier"/>
              </a:rPr>
              <a:t>SensorTag</a:t>
            </a:r>
            <a:r>
              <a:rPr dirty="0">
                <a:latin typeface="Courier"/>
              </a:rPr>
              <a:t>
       |
       |  Bluetooth Low Energy (BLE, IEEE 802.15.1)
       v
 Raspberry Pi  ---- </a:t>
            </a:r>
            <a:r>
              <a:rPr dirty="0" err="1">
                <a:latin typeface="Courier"/>
              </a:rPr>
              <a:t>sensor.py</a:t>
            </a:r>
            <a:r>
              <a:rPr dirty="0">
                <a:latin typeface="Courier"/>
              </a:rPr>
              <a:t> (Python / bleak)
       |
       |  MQTT, Port 1883, Topic: "Sensor"
       v
 MQTT-Broker IWILR4-11
       |
       |  MQTT, QoS 2
       v
 Node-RED  IWILR4-10:1880
       |
       +-- Factory/</a:t>
            </a:r>
            <a:r>
              <a:rPr dirty="0" err="1">
                <a:latin typeface="Courier"/>
              </a:rPr>
              <a:t>ConditionMonitoring</a:t>
            </a:r>
            <a:r>
              <a:rPr dirty="0">
                <a:latin typeface="Courier"/>
              </a:rPr>
              <a:t>/Temperature
       +-- Factory/</a:t>
            </a:r>
            <a:r>
              <a:rPr dirty="0" err="1">
                <a:latin typeface="Courier"/>
              </a:rPr>
              <a:t>ConditionMonitoring</a:t>
            </a:r>
            <a:r>
              <a:rPr dirty="0">
                <a:latin typeface="Courier"/>
              </a:rPr>
              <a:t>/Humidity
       +-- Factory/</a:t>
            </a:r>
            <a:r>
              <a:rPr dirty="0" err="1">
                <a:latin typeface="Courier"/>
              </a:rPr>
              <a:t>ConditionMonitoring</a:t>
            </a:r>
            <a:r>
              <a:rPr dirty="0">
                <a:latin typeface="Courier"/>
              </a:rPr>
              <a:t>/</a:t>
            </a:r>
            <a:r>
              <a:rPr dirty="0" err="1">
                <a:latin typeface="Courier"/>
              </a:rPr>
              <a:t>AirPressure</a:t>
            </a:r>
            <a:r>
              <a:rPr dirty="0">
                <a:latin typeface="Courier"/>
              </a:rPr>
              <a:t>
       +-- Factory/</a:t>
            </a:r>
            <a:r>
              <a:rPr dirty="0" err="1">
                <a:latin typeface="Courier"/>
              </a:rPr>
              <a:t>ConditionMonitoring</a:t>
            </a:r>
            <a:r>
              <a:rPr dirty="0">
                <a:latin typeface="Courier"/>
              </a:rPr>
              <a:t>/Illuminance
                  |
                  v
     </a:t>
            </a:r>
            <a:r>
              <a:rPr dirty="0" err="1">
                <a:latin typeface="Courier"/>
              </a:rPr>
              <a:t>ThingsBoard</a:t>
            </a:r>
            <a:r>
              <a:rPr dirty="0">
                <a:latin typeface="Courier"/>
              </a:rPr>
              <a:t> (Gr. 4)  /  DB (Gr. 3)</a:t>
            </a:r>
          </a:p>
          <a:p>
            <a:pPr marL="0" lvl="0" indent="0">
              <a:buNone/>
            </a:pPr>
            <a:r>
              <a:rPr dirty="0" err="1"/>
              <a:t>Einordnung</a:t>
            </a:r>
            <a:r>
              <a:rPr dirty="0"/>
              <a:t>: </a:t>
            </a:r>
            <a:r>
              <a:rPr b="1" dirty="0"/>
              <a:t>Perception Layer</a:t>
            </a:r>
            <a:r>
              <a:rPr dirty="0"/>
              <a:t> → </a:t>
            </a:r>
            <a:r>
              <a:rPr b="1" dirty="0"/>
              <a:t>Network Layer</a:t>
            </a:r>
            <a:r>
              <a:rPr dirty="0"/>
              <a:t> → </a:t>
            </a:r>
            <a:r>
              <a:rPr b="1" dirty="0"/>
              <a:t>Data Processing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Theoretische Grundlagen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Bluetooth Low Energy (BLE)</a:t>
            </a:r>
          </a:p>
        </p:txBody>
      </p:sp>
      <p:sp>
        <p:nvSpPr>
          <p:cNvPr id="4" name="Text Placeholder 3"/>
          <p:cNvSpPr>
            <a:spLocks noGrp="1"/>
          </p:cNvSpPr>
          <p:nvPr>
            <p:ph type="body" sz="half" idx="2"/>
          </p:nvPr>
        </p:nvSpPr>
        <p:spPr/>
        <p:txBody>
          <a:bodyPr/>
          <a:lstStyle/>
          <a:p>
            <a:pPr marL="0" lvl="0" indent="0">
              <a:buNone/>
            </a:pPr>
            <a:r>
              <a:rPr b="1"/>
              <a:t>Standard:</a:t>
            </a:r>
            <a:r>
              <a:t> IEEE 802.15.1 | 2,402–2,480 GHz | Frequenzsprungverfahren</a:t>
            </a:r>
          </a:p>
          <a:p>
            <a:pPr marL="0" lvl="0" indent="0">
              <a:buNone/>
            </a:pPr>
            <a:r>
              <a:rPr b="1"/>
              <a:t>GATT-Architektur:</a:t>
            </a:r>
          </a:p>
          <a:p>
            <a:pPr lvl="0"/>
            <a:r>
              <a:rPr b="1"/>
              <a:t>Central</a:t>
            </a:r>
            <a:r>
              <a:t> (Raspberry Pi) liest vom </a:t>
            </a:r>
            <a:r>
              <a:rPr b="1"/>
              <a:t>Peripheral</a:t>
            </a:r>
            <a:r>
              <a:t> (SensorTag)</a:t>
            </a:r>
          </a:p>
          <a:p>
            <a:pPr lvl="0"/>
            <a:r>
              <a:rPr b="1"/>
              <a:t>Service</a:t>
            </a:r>
            <a:r>
              <a:t> → </a:t>
            </a:r>
            <a:r>
              <a:rPr b="1"/>
              <a:t>Charakteristikum</a:t>
            </a:r>
            <a:r>
              <a:t> → </a:t>
            </a:r>
            <a:r>
              <a:rPr b="1"/>
              <a:t>Notification</a:t>
            </a:r>
            <a:r>
              <a:t> bei neuer Messung</a:t>
            </a:r>
          </a:p>
          <a:p>
            <a:pPr lvl="0"/>
            <a:r>
              <a:t>Aktivierung: </a:t>
            </a:r>
            <a:r>
              <a:rPr>
                <a:latin typeface="Courier"/>
              </a:rPr>
              <a:t>0x01</a:t>
            </a:r>
            <a:r>
              <a:t> in Config-Charakteristikum schreiben</a:t>
            </a:r>
          </a:p>
          <a:p>
            <a:pPr marL="0" lvl="0" indent="0">
              <a:buNone/>
            </a:pPr>
            <a:r>
              <a:rPr b="1"/>
              <a:t>Warum BLE?</a:t>
            </a:r>
          </a:p>
          <a:p>
            <a:pPr lvl="0"/>
            <a:r>
              <a:t>TI CC2650 hat BLE nativ eingebaut</a:t>
            </a:r>
          </a:p>
          <a:p>
            <a:pPr lvl="0"/>
            <a:r>
              <a:t>Batteriebetrieb über Monate möglich</a:t>
            </a:r>
          </a:p>
          <a:p>
            <a:pPr lvl="0"/>
            <a:r>
              <a:t>Reichweite ~10 m deckt Laborumgebung ab</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tblGrid>
              <a:tr h="0">
                <a:tc>
                  <a:txBody>
                    <a:bodyPr/>
                    <a:lstStyle/>
                    <a:p>
                      <a:pPr marL="0" lvl="0" indent="0">
                        <a:buNone/>
                      </a:pPr>
                      <a:r>
                        <a:t>Technologie</a:t>
                      </a:r>
                    </a:p>
                  </a:txBody>
                  <a:tcPr/>
                </a:tc>
                <a:tc>
                  <a:txBody>
                    <a:bodyPr/>
                    <a:lstStyle/>
                    <a:p>
                      <a:pPr marL="0" lvl="0" indent="0">
                        <a:buNone/>
                      </a:pPr>
                      <a:r>
                        <a:t>Reichweite</a:t>
                      </a:r>
                    </a:p>
                  </a:txBody>
                  <a:tcPr/>
                </a:tc>
                <a:tc>
                  <a:txBody>
                    <a:bodyPr/>
                    <a:lstStyle/>
                    <a:p>
                      <a:pPr marL="0" lvl="0" indent="0">
                        <a:buNone/>
                      </a:pPr>
                      <a:r>
                        <a:t>Energie</a:t>
                      </a:r>
                    </a:p>
                  </a:txBody>
                  <a:tcPr/>
                </a:tc>
                <a:tc>
                  <a:txBody>
                    <a:bodyPr/>
                    <a:lstStyle/>
                    <a:p>
                      <a:pPr marL="0" lvl="0" indent="0">
                        <a:buNone/>
                      </a:pPr>
                      <a:r>
                        <a:t>Datenrate</a:t>
                      </a:r>
                    </a:p>
                  </a:txBody>
                  <a:tcPr/>
                </a:tc>
                <a:extLst>
                  <a:ext uri="{0D108BD9-81ED-4DB2-BD59-A6C34878D82A}">
                    <a16:rowId xmlns:a16="http://schemas.microsoft.com/office/drawing/2014/main" val="10000"/>
                  </a:ext>
                </a:extLst>
              </a:tr>
              <a:tr h="0">
                <a:tc>
                  <a:txBody>
                    <a:bodyPr/>
                    <a:lstStyle/>
                    <a:p>
                      <a:pPr marL="0" lvl="0" indent="0">
                        <a:buNone/>
                      </a:pPr>
                      <a:r>
                        <a:rPr b="1"/>
                        <a:t>BLE</a:t>
                      </a:r>
                    </a:p>
                  </a:txBody>
                  <a:tcPr/>
                </a:tc>
                <a:tc>
                  <a:txBody>
                    <a:bodyPr/>
                    <a:lstStyle/>
                    <a:p>
                      <a:pPr marL="0" lvl="0" indent="0">
                        <a:buNone/>
                      </a:pPr>
                      <a:r>
                        <a:t>1–100 m</a:t>
                      </a:r>
                    </a:p>
                  </a:txBody>
                  <a:tcPr/>
                </a:tc>
                <a:tc>
                  <a:txBody>
                    <a:bodyPr/>
                    <a:lstStyle/>
                    <a:p>
                      <a:pPr marL="0" lvl="0" indent="0">
                        <a:buNone/>
                      </a:pPr>
                      <a:r>
                        <a:t>sehr niedrig</a:t>
                      </a:r>
                    </a:p>
                  </a:txBody>
                  <a:tcPr/>
                </a:tc>
                <a:tc>
                  <a:txBody>
                    <a:bodyPr/>
                    <a:lstStyle/>
                    <a:p>
                      <a:pPr marL="0" lvl="0" indent="0">
                        <a:buNone/>
                      </a:pPr>
                      <a:r>
                        <a:t>~1 Mbit/s</a:t>
                      </a:r>
                    </a:p>
                  </a:txBody>
                  <a:tcPr/>
                </a:tc>
                <a:extLst>
                  <a:ext uri="{0D108BD9-81ED-4DB2-BD59-A6C34878D82A}">
                    <a16:rowId xmlns:a16="http://schemas.microsoft.com/office/drawing/2014/main" val="10001"/>
                  </a:ext>
                </a:extLst>
              </a:tr>
              <a:tr h="0">
                <a:tc>
                  <a:txBody>
                    <a:bodyPr/>
                    <a:lstStyle/>
                    <a:p>
                      <a:pPr marL="0" lvl="0" indent="0">
                        <a:buNone/>
                      </a:pPr>
                      <a:r>
                        <a:t>WLAN</a:t>
                      </a:r>
                    </a:p>
                  </a:txBody>
                  <a:tcPr/>
                </a:tc>
                <a:tc>
                  <a:txBody>
                    <a:bodyPr/>
                    <a:lstStyle/>
                    <a:p>
                      <a:pPr marL="0" lvl="0" indent="0">
                        <a:buNone/>
                      </a:pPr>
                      <a:r>
                        <a:t>30–100 m</a:t>
                      </a:r>
                    </a:p>
                  </a:txBody>
                  <a:tcPr/>
                </a:tc>
                <a:tc>
                  <a:txBody>
                    <a:bodyPr/>
                    <a:lstStyle/>
                    <a:p>
                      <a:pPr marL="0" lvl="0" indent="0">
                        <a:buNone/>
                      </a:pPr>
                      <a:r>
                        <a:t>hoch</a:t>
                      </a:r>
                    </a:p>
                  </a:txBody>
                  <a:tcPr/>
                </a:tc>
                <a:tc>
                  <a:txBody>
                    <a:bodyPr/>
                    <a:lstStyle/>
                    <a:p>
                      <a:pPr marL="0" lvl="0" indent="0">
                        <a:buNone/>
                      </a:pPr>
                      <a:r>
                        <a:t>&gt;100 Mbit/s</a:t>
                      </a:r>
                    </a:p>
                  </a:txBody>
                  <a:tcPr/>
                </a:tc>
                <a:extLst>
                  <a:ext uri="{0D108BD9-81ED-4DB2-BD59-A6C34878D82A}">
                    <a16:rowId xmlns:a16="http://schemas.microsoft.com/office/drawing/2014/main" val="10002"/>
                  </a:ext>
                </a:extLst>
              </a:tr>
              <a:tr h="0">
                <a:tc>
                  <a:txBody>
                    <a:bodyPr/>
                    <a:lstStyle/>
                    <a:p>
                      <a:pPr marL="0" lvl="0" indent="0">
                        <a:buNone/>
                      </a:pPr>
                      <a:r>
                        <a:t>ZigBee</a:t>
                      </a:r>
                    </a:p>
                  </a:txBody>
                  <a:tcPr/>
                </a:tc>
                <a:tc>
                  <a:txBody>
                    <a:bodyPr/>
                    <a:lstStyle/>
                    <a:p>
                      <a:pPr marL="0" lvl="0" indent="0">
                        <a:buNone/>
                      </a:pPr>
                      <a:r>
                        <a:t>10–100 m</a:t>
                      </a:r>
                    </a:p>
                  </a:txBody>
                  <a:tcPr/>
                </a:tc>
                <a:tc>
                  <a:txBody>
                    <a:bodyPr/>
                    <a:lstStyle/>
                    <a:p>
                      <a:pPr marL="0" lvl="0" indent="0">
                        <a:buNone/>
                      </a:pPr>
                      <a:r>
                        <a:t>niedrig</a:t>
                      </a:r>
                    </a:p>
                  </a:txBody>
                  <a:tcPr/>
                </a:tc>
                <a:tc>
                  <a:txBody>
                    <a:bodyPr/>
                    <a:lstStyle/>
                    <a:p>
                      <a:pPr marL="0" lvl="0" indent="0">
                        <a:buNone/>
                      </a:pPr>
                      <a:r>
                        <a:t>250 kbit/s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MQTT: Das wichtigste IoT-Protokoll</a:t>
            </a:r>
          </a:p>
        </p:txBody>
      </p:sp>
      <p:sp>
        <p:nvSpPr>
          <p:cNvPr id="3" name="Content Placeholder 2"/>
          <p:cNvSpPr>
            <a:spLocks noGrp="1"/>
          </p:cNvSpPr>
          <p:nvPr>
            <p:ph idx="1"/>
          </p:nvPr>
        </p:nvSpPr>
        <p:spPr/>
        <p:txBody>
          <a:bodyPr/>
          <a:lstStyle/>
          <a:p>
            <a:pPr marL="0" lvl="0" indent="0">
              <a:buNone/>
            </a:pPr>
            <a:r>
              <a:rPr b="1"/>
              <a:t>Publish/Subscribe über Message Broker:</a:t>
            </a:r>
          </a:p>
          <a:p>
            <a:pPr lvl="0" indent="0">
              <a:buNone/>
            </a:pPr>
            <a:r>
              <a:rPr>
                <a:latin typeface="Courier"/>
              </a:rPr>
              <a:t>Python-Skript (Publisher)
    |  Topic: "Sensor"
    v
  MQTT Broker (IWILR4-11)
    |
    +---&gt; Node-RED (Subscriber)
    +---&gt; Weitere Clients</a:t>
            </a:r>
          </a:p>
          <a:p>
            <a:pPr marL="0" lvl="0" indent="0">
              <a:buNone/>
            </a:pPr>
            <a:r>
              <a:rPr b="1"/>
              <a:t>Kernkonzepte:</a:t>
            </a:r>
          </a:p>
          <a:p>
            <a:pPr lvl="0"/>
            <a:r>
              <a:rPr b="1"/>
              <a:t>Topics:</a:t>
            </a:r>
            <a:r>
              <a:t> hierarchisch, z. B. </a:t>
            </a:r>
            <a:r>
              <a:rPr>
                <a:latin typeface="Courier"/>
              </a:rPr>
              <a:t>Factory/ConditionMonitoring/Temperature</a:t>
            </a:r>
          </a:p>
          <a:p>
            <a:pPr lvl="0"/>
            <a:r>
              <a:rPr b="1"/>
              <a:t>QoS 2</a:t>
            </a:r>
            <a:r>
              <a:t> → genau einmal zugestellt (kein Verlust, kein Duplikat)</a:t>
            </a:r>
          </a:p>
          <a:p>
            <a:pPr lvl="0"/>
            <a:r>
              <a:rPr b="1"/>
              <a:t>Retained Message:</a:t>
            </a:r>
            <a:r>
              <a:t> neuer Subscriber erhält sofort letzten bekannten Wert</a:t>
            </a:r>
          </a:p>
          <a:p>
            <a:pPr lvl="0"/>
            <a:r>
              <a:rPr b="1"/>
              <a:t>Last Will &amp; Testament:</a:t>
            </a:r>
            <a:r>
              <a:t> Broker meldet automatisch Verbindungsabbruch</a:t>
            </a:r>
          </a:p>
          <a:p>
            <a:pPr marL="0" lvl="0" indent="0">
              <a:buNone/>
            </a:pPr>
            <a:r>
              <a:rPr b="1"/>
              <a:t>Warum MQTT statt HTTP?</a:t>
            </a:r>
            <a:r>
              <a:t> → ~2 Byte Header vs. ~800 Byte HTTP | Lose Kopplung | OASIS-Standard seit 2013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Edge Computing &amp; Node-RED</a:t>
            </a:r>
          </a:p>
        </p:txBody>
      </p:sp>
      <p:sp>
        <p:nvSpPr>
          <p:cNvPr id="4" name="Text Placeholder 3"/>
          <p:cNvSpPr>
            <a:spLocks noGrp="1"/>
          </p:cNvSpPr>
          <p:nvPr>
            <p:ph type="body" sz="half" idx="2"/>
          </p:nvPr>
        </p:nvSpPr>
        <p:spPr/>
        <p:txBody>
          <a:bodyPr/>
          <a:lstStyle/>
          <a:p>
            <a:pPr marL="0" lvl="0" indent="0">
              <a:buNone/>
            </a:pPr>
            <a:r>
              <a:rPr b="1"/>
              <a:t>Edge/Fog Computing: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endParaRPr/>
                    </a:p>
                  </a:txBody>
                  <a:tcPr/>
                </a:tc>
                <a:tc>
                  <a:txBody>
                    <a:bodyPr/>
                    <a:lstStyle/>
                    <a:p>
                      <a:pPr marL="0" lvl="0" indent="0">
                        <a:buNone/>
                      </a:pPr>
                      <a:r>
                        <a:t>Edge (Raspberry Pi)</a:t>
                      </a:r>
                    </a:p>
                  </a:txBody>
                  <a:tcPr/>
                </a:tc>
                <a:tc>
                  <a:txBody>
                    <a:bodyPr/>
                    <a:lstStyle/>
                    <a:p>
                      <a:pPr marL="0" lvl="0" indent="0">
                        <a:buNone/>
                      </a:pPr>
                      <a:r>
                        <a:t>Cloud</a:t>
                      </a:r>
                    </a:p>
                  </a:txBody>
                  <a:tcPr/>
                </a:tc>
                <a:extLst>
                  <a:ext uri="{0D108BD9-81ED-4DB2-BD59-A6C34878D82A}">
                    <a16:rowId xmlns:a16="http://schemas.microsoft.com/office/drawing/2014/main" val="10000"/>
                  </a:ext>
                </a:extLst>
              </a:tr>
              <a:tr h="0">
                <a:tc>
                  <a:txBody>
                    <a:bodyPr/>
                    <a:lstStyle/>
                    <a:p>
                      <a:pPr marL="0" lvl="0" indent="0">
                        <a:buNone/>
                      </a:pPr>
                      <a:r>
                        <a:t>Latenz</a:t>
                      </a:r>
                    </a:p>
                  </a:txBody>
                  <a:tcPr/>
                </a:tc>
                <a:tc>
                  <a:txBody>
                    <a:bodyPr/>
                    <a:lstStyle/>
                    <a:p>
                      <a:pPr marL="0" lvl="0" indent="0">
                        <a:buNone/>
                      </a:pPr>
                      <a:r>
                        <a:t>Millisekunden</a:t>
                      </a:r>
                    </a:p>
                  </a:txBody>
                  <a:tcPr/>
                </a:tc>
                <a:tc>
                  <a:txBody>
                    <a:bodyPr/>
                    <a:lstStyle/>
                    <a:p>
                      <a:pPr marL="0" lvl="0" indent="0">
                        <a:buNone/>
                      </a:pPr>
                      <a:r>
                        <a:t>Sekunden</a:t>
                      </a:r>
                    </a:p>
                  </a:txBody>
                  <a:tcPr/>
                </a:tc>
                <a:extLst>
                  <a:ext uri="{0D108BD9-81ED-4DB2-BD59-A6C34878D82A}">
                    <a16:rowId xmlns:a16="http://schemas.microsoft.com/office/drawing/2014/main" val="10001"/>
                  </a:ext>
                </a:extLst>
              </a:tr>
              <a:tr h="0">
                <a:tc>
                  <a:txBody>
                    <a:bodyPr/>
                    <a:lstStyle/>
                    <a:p>
                      <a:pPr marL="0" lvl="0" indent="0">
                        <a:buNone/>
                      </a:pPr>
                      <a:r>
                        <a:t>Datenvolumen</a:t>
                      </a:r>
                    </a:p>
                  </a:txBody>
                  <a:tcPr/>
                </a:tc>
                <a:tc>
                  <a:txBody>
                    <a:bodyPr/>
                    <a:lstStyle/>
                    <a:p>
                      <a:pPr marL="0" lvl="0" indent="0">
                        <a:buNone/>
                      </a:pPr>
                      <a:r>
                        <a:t>reduziert (gefiltert)</a:t>
                      </a:r>
                    </a:p>
                  </a:txBody>
                  <a:tcPr/>
                </a:tc>
                <a:tc>
                  <a:txBody>
                    <a:bodyPr/>
                    <a:lstStyle/>
                    <a:p>
                      <a:pPr marL="0" lvl="0" indent="0">
                        <a:buNone/>
                      </a:pPr>
                      <a:r>
                        <a:t>vollständig</a:t>
                      </a:r>
                    </a:p>
                  </a:txBody>
                  <a:tcPr/>
                </a:tc>
                <a:extLst>
                  <a:ext uri="{0D108BD9-81ED-4DB2-BD59-A6C34878D82A}">
                    <a16:rowId xmlns:a16="http://schemas.microsoft.com/office/drawing/2014/main" val="10002"/>
                  </a:ext>
                </a:extLst>
              </a:tr>
              <a:tr h="0">
                <a:tc>
                  <a:txBody>
                    <a:bodyPr/>
                    <a:lstStyle/>
                    <a:p>
                      <a:pPr marL="0" lvl="0" indent="0">
                        <a:buNone/>
                      </a:pPr>
                      <a:r>
                        <a:t>Ausfallsicherheit</a:t>
                      </a:r>
                    </a:p>
                  </a:txBody>
                  <a:tcPr/>
                </a:tc>
                <a:tc>
                  <a:txBody>
                    <a:bodyPr/>
                    <a:lstStyle/>
                    <a:p>
                      <a:pPr marL="0" lvl="0" indent="0">
                        <a:buNone/>
                      </a:pPr>
                      <a:r>
                        <a:t>funktioniert offline</a:t>
                      </a:r>
                    </a:p>
                  </a:txBody>
                  <a:tcPr/>
                </a:tc>
                <a:tc>
                  <a:txBody>
                    <a:bodyPr/>
                    <a:lstStyle/>
                    <a:p>
                      <a:pPr marL="0" lvl="0" indent="0">
                        <a:buNone/>
                      </a:pPr>
                      <a:r>
                        <a:t>verbindungsabhängig</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rPr b="1"/>
              <a:t>Node-RED – Flow-basierte Programmierung:</a:t>
            </a:r>
          </a:p>
          <a:p>
            <a:pPr lvl="0"/>
            <a:r>
              <a:t>Open-Source (IBM / OpenJS Foundation), basiert auf Node.js</a:t>
            </a:r>
          </a:p>
          <a:p>
            <a:pPr lvl="0"/>
            <a:r>
              <a:t>Visuell: Nodes per Drag &amp; Drop verbinden</a:t>
            </a:r>
          </a:p>
          <a:p>
            <a:pPr lvl="0"/>
            <a:r>
              <a:t>Realisiert </a:t>
            </a:r>
            <a:r>
              <a:rPr b="1"/>
              <a:t>Stream-Processing-Konzepte:</a:t>
            </a:r>
          </a:p>
          <a:p>
            <a:pPr lvl="1"/>
            <a:r>
              <a:t>Continuous Queries: dauerhaft laufende Filter</a:t>
            </a:r>
          </a:p>
          <a:p>
            <a:pPr lvl="1"/>
            <a:r>
              <a:t>Rate Limiting: Drosselung auf 1 Nachricht/Minute</a:t>
            </a:r>
          </a:p>
          <a:p>
            <a:pPr lvl="1"/>
            <a:r>
              <a:t>Threshold Monitoring: Schwellenwertüberwachung in Echtzeit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Implementierung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Python: Bluetooth-Anbindung</a:t>
            </a:r>
          </a:p>
        </p:txBody>
      </p:sp>
      <p:sp>
        <p:nvSpPr>
          <p:cNvPr id="4" name="Text Placeholder 3"/>
          <p:cNvSpPr>
            <a:spLocks noGrp="1"/>
          </p:cNvSpPr>
          <p:nvPr>
            <p:ph type="body" sz="half" idx="2"/>
          </p:nvPr>
        </p:nvSpPr>
        <p:spPr/>
        <p:txBody>
          <a:bodyPr/>
          <a:lstStyle/>
          <a:p>
            <a:pPr marL="0" lvl="0" indent="0">
              <a:buNone/>
            </a:pPr>
            <a:r>
              <a:rPr b="1" dirty="0" err="1"/>
              <a:t>Zweistufiger</a:t>
            </a:r>
            <a:r>
              <a:rPr b="1" dirty="0"/>
              <a:t> Ansatz:</a:t>
            </a:r>
          </a:p>
          <a:p>
            <a:pPr marL="0" lvl="0" indent="0">
              <a:buNone/>
            </a:pPr>
            <a:r>
              <a:rPr b="1" dirty="0"/>
              <a:t>Schritt 1 – </a:t>
            </a:r>
            <a:r>
              <a:rPr b="1" dirty="0" err="1">
                <a:latin typeface="Courier"/>
              </a:rPr>
              <a:t>find_and_connect.py</a:t>
            </a:r>
            <a:r>
              <a:rPr b="1" dirty="0"/>
              <a:t> (Discovery)</a:t>
            </a:r>
          </a:p>
          <a:p>
            <a:pPr lvl="0" indent="0">
              <a:buNone/>
            </a:pPr>
            <a:r>
              <a:rPr dirty="0">
                <a:latin typeface="Courier"/>
              </a:rPr>
              <a:t>ADDRESS </a:t>
            </a:r>
            <a:r>
              <a:rPr dirty="0">
                <a:solidFill>
                  <a:srgbClr val="666666"/>
                </a:solidFill>
                <a:latin typeface="Courier"/>
              </a:rPr>
              <a:t>=</a:t>
            </a:r>
            <a:r>
              <a:rPr dirty="0">
                <a:latin typeface="Courier"/>
              </a:rPr>
              <a:t> </a:t>
            </a:r>
            <a:r>
              <a:rPr dirty="0">
                <a:solidFill>
                  <a:srgbClr val="4070A0"/>
                </a:solidFill>
                <a:latin typeface="Courier"/>
              </a:rPr>
              <a:t>"98:07:2D:27:F1:86"</a:t>
            </a:r>
            <a:r>
              <a:rPr dirty="0">
                <a:latin typeface="Courier"/>
              </a:rPr>
              <a:t>  </a:t>
            </a:r>
            <a:r>
              <a:rPr i="1" dirty="0">
                <a:solidFill>
                  <a:srgbClr val="60A0B0"/>
                </a:solidFill>
                <a:latin typeface="Courier"/>
              </a:rPr>
              <a:t># TI CC2650 </a:t>
            </a:r>
            <a:r>
              <a:rPr i="1" dirty="0" err="1">
                <a:solidFill>
                  <a:srgbClr val="60A0B0"/>
                </a:solidFill>
                <a:latin typeface="Courier"/>
              </a:rPr>
              <a:t>SensorTag</a:t>
            </a:r>
            <a:r>
              <a:rPr i="1" dirty="0">
                <a:solidFill>
                  <a:srgbClr val="60A0B0"/>
                </a:solidFill>
                <a:latin typeface="Courier"/>
              </a:rPr>
              <a:t> MAC</a:t>
            </a:r>
            <a:br>
              <a:rPr dirty="0"/>
            </a:br>
            <a:r>
              <a:rPr dirty="0">
                <a:latin typeface="Courier"/>
              </a:rPr>
              <a:t>device </a:t>
            </a:r>
            <a:r>
              <a:rPr dirty="0">
                <a:solidFill>
                  <a:srgbClr val="666666"/>
                </a:solidFill>
                <a:latin typeface="Courier"/>
              </a:rPr>
              <a:t>=</a:t>
            </a:r>
            <a:r>
              <a:rPr dirty="0">
                <a:latin typeface="Courier"/>
              </a:rPr>
              <a:t> </a:t>
            </a:r>
            <a:r>
              <a:rPr b="1" dirty="0">
                <a:solidFill>
                  <a:srgbClr val="007020"/>
                </a:solidFill>
                <a:latin typeface="Courier"/>
              </a:rPr>
              <a:t>await</a:t>
            </a:r>
            <a:r>
              <a:rPr dirty="0">
                <a:latin typeface="Courier"/>
              </a:rPr>
              <a:t> </a:t>
            </a:r>
            <a:r>
              <a:rPr dirty="0" err="1">
                <a:latin typeface="Courier"/>
              </a:rPr>
              <a:t>BleakScanner.find_device_by_address</a:t>
            </a:r>
            <a:r>
              <a:rPr dirty="0">
                <a:latin typeface="Courier"/>
              </a:rPr>
              <a:t>(ADDRESS, timeout</a:t>
            </a:r>
            <a:r>
              <a:rPr dirty="0">
                <a:solidFill>
                  <a:srgbClr val="666666"/>
                </a:solidFill>
                <a:latin typeface="Courier"/>
              </a:rPr>
              <a:t>=</a:t>
            </a:r>
            <a:r>
              <a:rPr dirty="0">
                <a:solidFill>
                  <a:srgbClr val="40A070"/>
                </a:solidFill>
                <a:latin typeface="Courier"/>
              </a:rPr>
              <a:t>15.0</a:t>
            </a:r>
            <a:r>
              <a:rPr dirty="0">
                <a:latin typeface="Courier"/>
              </a:rPr>
              <a:t>)</a:t>
            </a:r>
            <a:br>
              <a:rPr dirty="0"/>
            </a:br>
            <a:r>
              <a:rPr i="1" dirty="0">
                <a:solidFill>
                  <a:srgbClr val="60A0B0"/>
                </a:solidFill>
                <a:latin typeface="Courier"/>
              </a:rPr>
              <a:t># </a:t>
            </a:r>
            <a:r>
              <a:rPr i="1" dirty="0" err="1">
                <a:solidFill>
                  <a:srgbClr val="60A0B0"/>
                </a:solidFill>
                <a:latin typeface="Courier"/>
              </a:rPr>
              <a:t>Listet</a:t>
            </a:r>
            <a:r>
              <a:rPr i="1" dirty="0">
                <a:solidFill>
                  <a:srgbClr val="60A0B0"/>
                </a:solidFill>
                <a:latin typeface="Courier"/>
              </a:rPr>
              <a:t> alle GATT-Services und </a:t>
            </a:r>
            <a:r>
              <a:rPr i="1" dirty="0" err="1">
                <a:solidFill>
                  <a:srgbClr val="60A0B0"/>
                </a:solidFill>
                <a:latin typeface="Courier"/>
              </a:rPr>
              <a:t>Charakteristika</a:t>
            </a:r>
            <a:r>
              <a:rPr i="1" dirty="0">
                <a:solidFill>
                  <a:srgbClr val="60A0B0"/>
                </a:solidFill>
                <a:latin typeface="Courier"/>
              </a:rPr>
              <a:t> auf</a:t>
            </a:r>
          </a:p>
          <a:p>
            <a:pPr marL="0" lvl="0" indent="0">
              <a:buNone/>
            </a:pPr>
            <a:r>
              <a:rPr b="1" dirty="0"/>
              <a:t>Schritt 2 – </a:t>
            </a:r>
            <a:r>
              <a:rPr b="1" dirty="0" err="1">
                <a:latin typeface="Courier"/>
              </a:rPr>
              <a:t>sensor.py</a:t>
            </a:r>
            <a:r>
              <a:rPr b="1" dirty="0"/>
              <a:t> (</a:t>
            </a:r>
            <a:r>
              <a:rPr b="1" dirty="0" err="1"/>
              <a:t>Produktivbetrieb</a:t>
            </a:r>
            <a:r>
              <a:rPr b="1" dirty="0"/>
              <a:t>)</a:t>
            </a:r>
          </a:p>
          <a:p>
            <a:pPr lvl="0" indent="0">
              <a:buNone/>
            </a:pPr>
            <a:r>
              <a:rPr b="1" dirty="0">
                <a:solidFill>
                  <a:srgbClr val="007020"/>
                </a:solidFill>
                <a:latin typeface="Courier"/>
              </a:rPr>
              <a:t>for</a:t>
            </a:r>
            <a:r>
              <a:rPr dirty="0">
                <a:latin typeface="Courier"/>
              </a:rPr>
              <a:t> name, </a:t>
            </a:r>
            <a:r>
              <a:rPr dirty="0" err="1">
                <a:latin typeface="Courier"/>
              </a:rPr>
              <a:t>uuids</a:t>
            </a:r>
            <a:r>
              <a:rPr dirty="0">
                <a:latin typeface="Courier"/>
              </a:rPr>
              <a:t> </a:t>
            </a:r>
            <a:r>
              <a:rPr b="1" dirty="0">
                <a:solidFill>
                  <a:srgbClr val="007020"/>
                </a:solidFill>
                <a:latin typeface="Courier"/>
              </a:rPr>
              <a:t>in</a:t>
            </a:r>
            <a:r>
              <a:rPr dirty="0">
                <a:latin typeface="Courier"/>
              </a:rPr>
              <a:t> </a:t>
            </a:r>
            <a:r>
              <a:rPr dirty="0" err="1">
                <a:latin typeface="Courier"/>
              </a:rPr>
              <a:t>SENSORS.items</a:t>
            </a:r>
            <a:r>
              <a:rPr dirty="0">
                <a:latin typeface="Courier"/>
              </a:rPr>
              <a:t>():</a:t>
            </a:r>
            <a:br>
              <a:rPr dirty="0"/>
            </a:br>
            <a:r>
              <a:rPr dirty="0">
                <a:latin typeface="Courier"/>
              </a:rPr>
              <a:t>    </a:t>
            </a:r>
            <a:r>
              <a:rPr b="1" dirty="0">
                <a:solidFill>
                  <a:srgbClr val="007020"/>
                </a:solidFill>
                <a:latin typeface="Courier"/>
              </a:rPr>
              <a:t>await</a:t>
            </a:r>
            <a:r>
              <a:rPr dirty="0">
                <a:latin typeface="Courier"/>
              </a:rPr>
              <a:t> </a:t>
            </a:r>
            <a:r>
              <a:rPr dirty="0" err="1">
                <a:latin typeface="Courier"/>
              </a:rPr>
              <a:t>client.write_gatt_char</a:t>
            </a:r>
            <a:r>
              <a:rPr dirty="0">
                <a:latin typeface="Courier"/>
              </a:rPr>
              <a:t>(</a:t>
            </a:r>
            <a:r>
              <a:rPr dirty="0" err="1">
                <a:latin typeface="Courier"/>
              </a:rPr>
              <a:t>uuids</a:t>
            </a:r>
            <a:r>
              <a:rPr dirty="0">
                <a:latin typeface="Courier"/>
              </a:rPr>
              <a:t>[</a:t>
            </a:r>
            <a:r>
              <a:rPr dirty="0">
                <a:solidFill>
                  <a:srgbClr val="4070A0"/>
                </a:solidFill>
                <a:latin typeface="Courier"/>
              </a:rPr>
              <a:t>"config"</a:t>
            </a:r>
            <a:r>
              <a:rPr dirty="0">
                <a:latin typeface="Courier"/>
              </a:rPr>
              <a:t>], </a:t>
            </a:r>
            <a:r>
              <a:rPr dirty="0">
                <a:solidFill>
                  <a:srgbClr val="4070A0"/>
                </a:solidFill>
                <a:latin typeface="Courier"/>
              </a:rPr>
              <a:t>b"\x01"</a:t>
            </a:r>
            <a:r>
              <a:rPr dirty="0">
                <a:latin typeface="Courier"/>
              </a:rPr>
              <a:t>)  </a:t>
            </a:r>
            <a:r>
              <a:rPr i="1" dirty="0">
                <a:solidFill>
                  <a:srgbClr val="60A0B0"/>
                </a:solidFill>
                <a:latin typeface="Courier"/>
              </a:rPr>
              <a:t># Sensor </a:t>
            </a:r>
            <a:r>
              <a:rPr i="1" dirty="0" err="1">
                <a:solidFill>
                  <a:srgbClr val="60A0B0"/>
                </a:solidFill>
                <a:latin typeface="Courier"/>
              </a:rPr>
              <a:t>aktivieren</a:t>
            </a:r>
            <a:br>
              <a:rPr dirty="0"/>
            </a:br>
            <a:r>
              <a:rPr dirty="0">
                <a:latin typeface="Courier"/>
              </a:rPr>
              <a:t>    </a:t>
            </a:r>
            <a:r>
              <a:rPr b="1" dirty="0">
                <a:solidFill>
                  <a:srgbClr val="007020"/>
                </a:solidFill>
                <a:latin typeface="Courier"/>
              </a:rPr>
              <a:t>await</a:t>
            </a:r>
            <a:r>
              <a:rPr dirty="0">
                <a:latin typeface="Courier"/>
              </a:rPr>
              <a:t> </a:t>
            </a:r>
            <a:r>
              <a:rPr dirty="0" err="1">
                <a:latin typeface="Courier"/>
              </a:rPr>
              <a:t>client.start_notify</a:t>
            </a:r>
            <a:r>
              <a:rPr dirty="0">
                <a:latin typeface="Courier"/>
              </a:rPr>
              <a:t>(</a:t>
            </a:r>
            <a:r>
              <a:rPr dirty="0" err="1">
                <a:latin typeface="Courier"/>
              </a:rPr>
              <a:t>uuids</a:t>
            </a:r>
            <a:r>
              <a:rPr dirty="0">
                <a:latin typeface="Courier"/>
              </a:rPr>
              <a:t>[</a:t>
            </a:r>
            <a:r>
              <a:rPr dirty="0">
                <a:solidFill>
                  <a:srgbClr val="4070A0"/>
                </a:solidFill>
                <a:latin typeface="Courier"/>
              </a:rPr>
              <a:t>"data"</a:t>
            </a:r>
            <a:r>
              <a:rPr dirty="0">
                <a:latin typeface="Courier"/>
              </a:rPr>
              <a:t>], </a:t>
            </a:r>
            <a:r>
              <a:rPr dirty="0" err="1">
                <a:latin typeface="Courier"/>
              </a:rPr>
              <a:t>notification_handler</a:t>
            </a:r>
            <a:r>
              <a:rPr dirty="0">
                <a:latin typeface="Courier"/>
              </a:rPr>
              <a:t>)</a:t>
            </a:r>
          </a:p>
          <a:p>
            <a:pPr marL="0" lvl="0" indent="0">
              <a:buNone/>
            </a:pPr>
            <a:r>
              <a:rPr b="1" dirty="0" err="1"/>
              <a:t>Rohdaten</a:t>
            </a:r>
            <a:r>
              <a:rPr b="1" dirty="0"/>
              <a:t>-JSON (Topic: </a:t>
            </a:r>
            <a:r>
              <a:rPr b="1" dirty="0">
                <a:latin typeface="Courier"/>
              </a:rPr>
              <a:t>Sensor</a:t>
            </a:r>
            <a:r>
              <a:rPr b="1" dirty="0"/>
              <a:t>):</a:t>
            </a:r>
          </a:p>
          <a:p>
            <a:pPr lvl="0" indent="0">
              <a:buNone/>
            </a:pPr>
            <a:r>
              <a:rPr dirty="0">
                <a:solidFill>
                  <a:srgbClr val="06287E"/>
                </a:solidFill>
                <a:latin typeface="Courier"/>
              </a:rPr>
              <a:t>{</a:t>
            </a:r>
            <a:r>
              <a:rPr dirty="0">
                <a:latin typeface="Courier"/>
              </a:rPr>
              <a:t> </a:t>
            </a:r>
            <a:r>
              <a:rPr dirty="0">
                <a:solidFill>
                  <a:srgbClr val="902000"/>
                </a:solidFill>
                <a:latin typeface="Courier"/>
              </a:rPr>
              <a:t>"device"</a:t>
            </a:r>
            <a:r>
              <a:rPr dirty="0">
                <a:solidFill>
                  <a:srgbClr val="06287E"/>
                </a:solidFill>
                <a:latin typeface="Courier"/>
              </a:rPr>
              <a:t>:</a:t>
            </a:r>
            <a:r>
              <a:rPr dirty="0">
                <a:latin typeface="Courier"/>
              </a:rPr>
              <a:t> </a:t>
            </a:r>
            <a:r>
              <a:rPr dirty="0">
                <a:solidFill>
                  <a:srgbClr val="4070A0"/>
                </a:solidFill>
                <a:latin typeface="Courier"/>
              </a:rPr>
              <a:t>"ti_cc2650"</a:t>
            </a:r>
            <a:r>
              <a:rPr dirty="0">
                <a:solidFill>
                  <a:srgbClr val="06287E"/>
                </a:solidFill>
                <a:latin typeface="Courier"/>
              </a:rPr>
              <a:t>,</a:t>
            </a:r>
            <a:r>
              <a:rPr dirty="0">
                <a:latin typeface="Courier"/>
              </a:rPr>
              <a:t> </a:t>
            </a:r>
            <a:r>
              <a:rPr dirty="0">
                <a:solidFill>
                  <a:srgbClr val="902000"/>
                </a:solidFill>
                <a:latin typeface="Courier"/>
              </a:rPr>
              <a:t>"type"</a:t>
            </a:r>
            <a:r>
              <a:rPr dirty="0">
                <a:solidFill>
                  <a:srgbClr val="06287E"/>
                </a:solidFill>
                <a:latin typeface="Courier"/>
              </a:rPr>
              <a:t>:</a:t>
            </a:r>
            <a:r>
              <a:rPr dirty="0">
                <a:latin typeface="Courier"/>
              </a:rPr>
              <a:t> </a:t>
            </a:r>
            <a:r>
              <a:rPr dirty="0">
                <a:solidFill>
                  <a:srgbClr val="4070A0"/>
                </a:solidFill>
                <a:latin typeface="Courier"/>
              </a:rPr>
              <a:t>"temperature"</a:t>
            </a:r>
            <a:r>
              <a:rPr dirty="0">
                <a:solidFill>
                  <a:srgbClr val="06287E"/>
                </a:solidFill>
                <a:latin typeface="Courier"/>
              </a:rPr>
              <a:t>,</a:t>
            </a:r>
            <a:br>
              <a:rPr dirty="0"/>
            </a:br>
            <a:r>
              <a:rPr dirty="0">
                <a:latin typeface="Courier"/>
              </a:rPr>
              <a:t>  </a:t>
            </a:r>
            <a:r>
              <a:rPr dirty="0">
                <a:solidFill>
                  <a:srgbClr val="902000"/>
                </a:solidFill>
                <a:latin typeface="Courier"/>
              </a:rPr>
              <a:t>"value"</a:t>
            </a:r>
            <a:r>
              <a:rPr dirty="0">
                <a:solidFill>
                  <a:srgbClr val="06287E"/>
                </a:solidFill>
                <a:latin typeface="Courier"/>
              </a:rPr>
              <a:t>:</a:t>
            </a:r>
            <a:r>
              <a:rPr dirty="0">
                <a:latin typeface="Courier"/>
              </a:rPr>
              <a:t> </a:t>
            </a:r>
            <a:r>
              <a:rPr dirty="0">
                <a:solidFill>
                  <a:srgbClr val="40A070"/>
                </a:solidFill>
                <a:latin typeface="Courier"/>
              </a:rPr>
              <a:t>26.18</a:t>
            </a:r>
            <a:r>
              <a:rPr dirty="0">
                <a:solidFill>
                  <a:srgbClr val="06287E"/>
                </a:solidFill>
                <a:latin typeface="Courier"/>
              </a:rPr>
              <a:t>,</a:t>
            </a:r>
            <a:r>
              <a:rPr dirty="0">
                <a:latin typeface="Courier"/>
              </a:rPr>
              <a:t> </a:t>
            </a:r>
            <a:r>
              <a:rPr dirty="0">
                <a:solidFill>
                  <a:srgbClr val="902000"/>
                </a:solidFill>
                <a:latin typeface="Courier"/>
              </a:rPr>
              <a:t>"timestamp"</a:t>
            </a:r>
            <a:r>
              <a:rPr dirty="0">
                <a:solidFill>
                  <a:srgbClr val="06287E"/>
                </a:solidFill>
                <a:latin typeface="Courier"/>
              </a:rPr>
              <a:t>:</a:t>
            </a:r>
            <a:r>
              <a:rPr dirty="0">
                <a:latin typeface="Courier"/>
              </a:rPr>
              <a:t> </a:t>
            </a:r>
            <a:r>
              <a:rPr dirty="0">
                <a:solidFill>
                  <a:srgbClr val="40A070"/>
                </a:solidFill>
                <a:latin typeface="Courier"/>
              </a:rPr>
              <a:t>1780051874.037</a:t>
            </a:r>
            <a:r>
              <a:rPr dirty="0">
                <a:latin typeface="Courier"/>
              </a:rPr>
              <a:t> </a:t>
            </a:r>
            <a:r>
              <a:rPr dirty="0">
                <a:solidFill>
                  <a:srgbClr val="06287E"/>
                </a:solidFill>
                <a:latin typeface="Courier"/>
              </a:rPr>
              <a:t>}</a:t>
            </a:r>
          </a:p>
        </p:txBody>
      </p:sp>
      <p:pic>
        <p:nvPicPr>
          <p:cNvPr id="3" name="Picture 1" descr="Image%2029.05.26%20at%2012.51.png"/>
          <p:cNvPicPr>
            <a:picLocks noGrp="1" noChangeAspect="1"/>
          </p:cNvPicPr>
          <p:nvPr/>
        </p:nvPicPr>
        <p:blipFill>
          <a:blip r:embed="rId3"/>
          <a:stretch>
            <a:fillRect/>
          </a:stretch>
        </p:blipFill>
        <p:spPr bwMode="auto">
          <a:xfrm>
            <a:off x="3568700" y="1346200"/>
            <a:ext cx="5105400" cy="1574800"/>
          </a:xfrm>
          <a:prstGeom prst="rect">
            <a:avLst/>
          </a:prstGeom>
          <a:noFill/>
          <a:ln w="9525">
            <a:noFill/>
            <a:headEnd/>
            <a:tailEnd/>
          </a:ln>
        </p:spPr>
      </p:pic>
      <p:sp>
        <p:nvSpPr>
          <p:cNvPr id="5" name="TextBox 3"/>
          <p:cNvSpPr txBox="1">
            <a:spLocks noGrp="1"/>
          </p:cNvSpPr>
          <p:nvPr>
            <p:ph idx="1"/>
          </p:nvPr>
        </p:nvSpPr>
        <p:spPr>
          <a:xfrm>
            <a:off x="3568700" y="4076700"/>
            <a:ext cx="5105400" cy="508000"/>
          </a:xfrm>
          <a:prstGeom prst="rect">
            <a:avLst/>
          </a:prstGeom>
          <a:noFill/>
        </p:spPr>
        <p:txBody>
          <a:bodyPr/>
          <a:lstStyle/>
          <a:p>
            <a:pPr marL="0" lvl="0" indent="0" algn="ctr">
              <a:buNone/>
            </a:pPr>
            <a:r>
              <a:t>MQTT Rohdaten auf Topic Sensor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MQTT-Konfiguration &amp; Topics</a:t>
            </a:r>
          </a:p>
        </p:txBody>
      </p:sp>
      <p:sp>
        <p:nvSpPr>
          <p:cNvPr id="4" name="Text Placeholder 3"/>
          <p:cNvSpPr>
            <a:spLocks noGrp="1"/>
          </p:cNvSpPr>
          <p:nvPr>
            <p:ph type="body" sz="half" idx="2"/>
          </p:nvPr>
        </p:nvSpPr>
        <p:spPr/>
        <p:txBody>
          <a:bodyPr/>
          <a:lstStyle/>
          <a:p>
            <a:pPr marL="0" lvl="0" indent="0">
              <a:buNone/>
            </a:pPr>
            <a:r>
              <a:rPr b="1"/>
              <a:t>Broker:</a:t>
            </a:r>
            <a:r>
              <a:t> </a:t>
            </a:r>
            <a:r>
              <a:rPr>
                <a:latin typeface="Courier"/>
              </a:rPr>
              <a:t>IWILR4-11.CAMPUS.fh-ludwigshafen.de</a:t>
            </a:r>
            <a:r>
              <a:t>, Port 1883</a:t>
            </a:r>
          </a:p>
          <a:p>
            <a:pPr marL="0" lvl="0" indent="0">
              <a:buNone/>
            </a:pPr>
            <a:r>
              <a:rPr b="1"/>
              <a:t>Zwei-Stufen-Pipeline: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buNone/>
                      </a:pPr>
                      <a:r>
                        <a:t>Stufe</a:t>
                      </a:r>
                    </a:p>
                  </a:txBody>
                  <a:tcPr/>
                </a:tc>
                <a:tc>
                  <a:txBody>
                    <a:bodyPr/>
                    <a:lstStyle/>
                    <a:p>
                      <a:pPr marL="0" lvl="0" indent="0">
                        <a:buNone/>
                      </a:pPr>
                      <a:r>
                        <a:t>Topic</a:t>
                      </a:r>
                    </a:p>
                  </a:txBody>
                  <a:tcPr/>
                </a:tc>
                <a:tc>
                  <a:txBody>
                    <a:bodyPr/>
                    <a:lstStyle/>
                    <a:p>
                      <a:pPr marL="0" lvl="0" indent="0">
                        <a:buNone/>
                      </a:pPr>
                      <a:r>
                        <a:t>Format</a:t>
                      </a:r>
                    </a:p>
                  </a:txBody>
                  <a:tcPr/>
                </a:tc>
                <a:extLst>
                  <a:ext uri="{0D108BD9-81ED-4DB2-BD59-A6C34878D82A}">
                    <a16:rowId xmlns:a16="http://schemas.microsoft.com/office/drawing/2014/main" val="10000"/>
                  </a:ext>
                </a:extLst>
              </a:tr>
              <a:tr h="0">
                <a:tc>
                  <a:txBody>
                    <a:bodyPr/>
                    <a:lstStyle/>
                    <a:p>
                      <a:pPr marL="0" lvl="0" indent="0">
                        <a:buNone/>
                      </a:pPr>
                      <a:r>
                        <a:t>Eingang</a:t>
                      </a:r>
                    </a:p>
                  </a:txBody>
                  <a:tcPr/>
                </a:tc>
                <a:tc>
                  <a:txBody>
                    <a:bodyPr/>
                    <a:lstStyle/>
                    <a:p>
                      <a:pPr marL="0" lvl="0" indent="0">
                        <a:buNone/>
                      </a:pPr>
                      <a:r>
                        <a:rPr>
                          <a:latin typeface="Courier"/>
                        </a:rPr>
                        <a:t>Sensor</a:t>
                      </a:r>
                    </a:p>
                  </a:txBody>
                  <a:tcPr/>
                </a:tc>
                <a:tc>
                  <a:txBody>
                    <a:bodyPr/>
                    <a:lstStyle/>
                    <a:p>
                      <a:pPr marL="0" lvl="0" indent="0">
                        <a:buNone/>
                      </a:pPr>
                      <a:r>
                        <a:t>Rohdaten (device, type, value, timestamp)</a:t>
                      </a:r>
                    </a:p>
                  </a:txBody>
                  <a:tcPr/>
                </a:tc>
                <a:extLst>
                  <a:ext uri="{0D108BD9-81ED-4DB2-BD59-A6C34878D82A}">
                    <a16:rowId xmlns:a16="http://schemas.microsoft.com/office/drawing/2014/main" val="10001"/>
                  </a:ext>
                </a:extLst>
              </a:tr>
              <a:tr h="0">
                <a:tc>
                  <a:txBody>
                    <a:bodyPr/>
                    <a:lstStyle/>
                    <a:p>
                      <a:pPr marL="0" lvl="0" indent="0">
                        <a:buNone/>
                      </a:pPr>
                      <a:r>
                        <a:t>Ausgang</a:t>
                      </a:r>
                    </a:p>
                  </a:txBody>
                  <a:tcPr/>
                </a:tc>
                <a:tc>
                  <a:txBody>
                    <a:bodyPr/>
                    <a:lstStyle/>
                    <a:p>
                      <a:pPr marL="0" lvl="0" indent="0">
                        <a:buNone/>
                      </a:pPr>
                      <a:r>
                        <a:rPr>
                          <a:latin typeface="Courier"/>
                        </a:rPr>
                        <a:t>Factory/ConditionMonitoring/Temperature</a:t>
                      </a:r>
                    </a:p>
                  </a:txBody>
                  <a:tcPr/>
                </a:tc>
                <a:tc>
                  <a:txBody>
                    <a:bodyPr/>
                    <a:lstStyle/>
                    <a:p>
                      <a:pPr marL="0" lvl="0" indent="0">
                        <a:buNone/>
                      </a:pPr>
                      <a:r>
                        <a:t>Observation</a:t>
                      </a:r>
                    </a:p>
                  </a:txBody>
                  <a:tcPr/>
                </a:tc>
                <a:extLst>
                  <a:ext uri="{0D108BD9-81ED-4DB2-BD59-A6C34878D82A}">
                    <a16:rowId xmlns:a16="http://schemas.microsoft.com/office/drawing/2014/main" val="10002"/>
                  </a:ext>
                </a:extLst>
              </a:tr>
              <a:tr h="0">
                <a:tc>
                  <a:txBody>
                    <a:bodyPr/>
                    <a:lstStyle/>
                    <a:p>
                      <a:pPr marL="0" lvl="0" indent="0">
                        <a:buNone/>
                      </a:pPr>
                      <a:r>
                        <a:t>Ausgang</a:t>
                      </a:r>
                    </a:p>
                  </a:txBody>
                  <a:tcPr/>
                </a:tc>
                <a:tc>
                  <a:txBody>
                    <a:bodyPr/>
                    <a:lstStyle/>
                    <a:p>
                      <a:pPr marL="0" lvl="0" indent="0">
                        <a:buNone/>
                      </a:pPr>
                      <a:r>
                        <a:rPr>
                          <a:latin typeface="Courier"/>
                        </a:rPr>
                        <a:t>Factory/ConditionMonitoring/Humidity</a:t>
                      </a:r>
                    </a:p>
                  </a:txBody>
                  <a:tcPr/>
                </a:tc>
                <a:tc>
                  <a:txBody>
                    <a:bodyPr/>
                    <a:lstStyle/>
                    <a:p>
                      <a:pPr marL="0" lvl="0" indent="0">
                        <a:buNone/>
                      </a:pPr>
                      <a:r>
                        <a:t>Observation</a:t>
                      </a:r>
                    </a:p>
                  </a:txBody>
                  <a:tcPr/>
                </a:tc>
                <a:extLst>
                  <a:ext uri="{0D108BD9-81ED-4DB2-BD59-A6C34878D82A}">
                    <a16:rowId xmlns:a16="http://schemas.microsoft.com/office/drawing/2014/main" val="10003"/>
                  </a:ext>
                </a:extLst>
              </a:tr>
              <a:tr h="0">
                <a:tc>
                  <a:txBody>
                    <a:bodyPr/>
                    <a:lstStyle/>
                    <a:p>
                      <a:pPr marL="0" lvl="0" indent="0">
                        <a:buNone/>
                      </a:pPr>
                      <a:r>
                        <a:t>Ausgang</a:t>
                      </a:r>
                    </a:p>
                  </a:txBody>
                  <a:tcPr/>
                </a:tc>
                <a:tc>
                  <a:txBody>
                    <a:bodyPr/>
                    <a:lstStyle/>
                    <a:p>
                      <a:pPr marL="0" lvl="0" indent="0">
                        <a:buNone/>
                      </a:pPr>
                      <a:r>
                        <a:rPr>
                          <a:latin typeface="Courier"/>
                        </a:rPr>
                        <a:t>Factory/ConditionMonitoring/AirPressure</a:t>
                      </a:r>
                    </a:p>
                  </a:txBody>
                  <a:tcPr/>
                </a:tc>
                <a:tc>
                  <a:txBody>
                    <a:bodyPr/>
                    <a:lstStyle/>
                    <a:p>
                      <a:pPr marL="0" lvl="0" indent="0">
                        <a:buNone/>
                      </a:pPr>
                      <a:r>
                        <a:t>Observation</a:t>
                      </a:r>
                    </a:p>
                  </a:txBody>
                  <a:tcPr/>
                </a:tc>
                <a:extLst>
                  <a:ext uri="{0D108BD9-81ED-4DB2-BD59-A6C34878D82A}">
                    <a16:rowId xmlns:a16="http://schemas.microsoft.com/office/drawing/2014/main" val="10004"/>
                  </a:ext>
                </a:extLst>
              </a:tr>
              <a:tr h="0">
                <a:tc>
                  <a:txBody>
                    <a:bodyPr/>
                    <a:lstStyle/>
                    <a:p>
                      <a:pPr marL="0" lvl="0" indent="0">
                        <a:buNone/>
                      </a:pPr>
                      <a:r>
                        <a:t>Ausgang</a:t>
                      </a:r>
                    </a:p>
                  </a:txBody>
                  <a:tcPr/>
                </a:tc>
                <a:tc>
                  <a:txBody>
                    <a:bodyPr/>
                    <a:lstStyle/>
                    <a:p>
                      <a:pPr marL="0" lvl="0" indent="0">
                        <a:buNone/>
                      </a:pPr>
                      <a:r>
                        <a:rPr>
                          <a:latin typeface="Courier"/>
                        </a:rPr>
                        <a:t>Factory/ConditionMonitoring/Illuminance</a:t>
                      </a:r>
                    </a:p>
                  </a:txBody>
                  <a:tcPr/>
                </a:tc>
                <a:tc>
                  <a:txBody>
                    <a:bodyPr/>
                    <a:lstStyle/>
                    <a:p>
                      <a:pPr marL="0" lvl="0" indent="0">
                        <a:buNone/>
                      </a:pPr>
                      <a:r>
                        <a:t>Observation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p:txBody>
          <a:bodyPr/>
          <a:lstStyle/>
          <a:p>
            <a:pPr marL="0" lvl="0" indent="0">
              <a:buNone/>
            </a:pPr>
            <a:r>
              <a:rPr b="1" dirty="0"/>
              <a:t>Observation-Format:</a:t>
            </a:r>
          </a:p>
          <a:p>
            <a:pPr lvl="0" indent="0">
              <a:buNone/>
            </a:pPr>
            <a:r>
              <a:rPr dirty="0">
                <a:solidFill>
                  <a:srgbClr val="06287E"/>
                </a:solidFill>
                <a:latin typeface="Courier"/>
              </a:rPr>
              <a:t>{</a:t>
            </a:r>
            <a:r>
              <a:rPr dirty="0">
                <a:latin typeface="Courier"/>
              </a:rPr>
              <a:t> </a:t>
            </a:r>
            <a:r>
              <a:rPr dirty="0">
                <a:solidFill>
                  <a:srgbClr val="902000"/>
                </a:solidFill>
                <a:latin typeface="Courier"/>
              </a:rPr>
              <a:t>"Observation"</a:t>
            </a:r>
            <a:r>
              <a:rPr dirty="0">
                <a:solidFill>
                  <a:srgbClr val="06287E"/>
                </a:solidFill>
                <a:latin typeface="Courier"/>
              </a:rPr>
              <a:t>:</a:t>
            </a:r>
            <a:r>
              <a:rPr dirty="0">
                <a:latin typeface="Courier"/>
              </a:rPr>
              <a:t> </a:t>
            </a:r>
            <a:r>
              <a:rPr dirty="0">
                <a:solidFill>
                  <a:srgbClr val="06287E"/>
                </a:solidFill>
                <a:latin typeface="Courier"/>
              </a:rPr>
              <a:t>{</a:t>
            </a:r>
            <a:r>
              <a:rPr dirty="0">
                <a:latin typeface="Courier"/>
              </a:rPr>
              <a:t> </a:t>
            </a:r>
            <a:r>
              <a:rPr dirty="0">
                <a:solidFill>
                  <a:srgbClr val="902000"/>
                </a:solidFill>
                <a:latin typeface="Courier"/>
              </a:rPr>
              <a:t>"</a:t>
            </a:r>
            <a:r>
              <a:rPr dirty="0" err="1">
                <a:solidFill>
                  <a:srgbClr val="902000"/>
                </a:solidFill>
                <a:latin typeface="Courier"/>
              </a:rPr>
              <a:t>MachineID</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70A0"/>
                </a:solidFill>
                <a:latin typeface="Courier"/>
              </a:rPr>
              <a:t>"CC2650STK"</a:t>
            </a:r>
            <a:r>
              <a:rPr dirty="0">
                <a:solidFill>
                  <a:srgbClr val="06287E"/>
                </a:solidFill>
                <a:latin typeface="Courier"/>
              </a:rPr>
              <a:t>,</a:t>
            </a:r>
            <a:br>
              <a:rPr dirty="0"/>
            </a:br>
            <a:r>
              <a:rPr dirty="0">
                <a:latin typeface="Courier"/>
              </a:rPr>
              <a:t>  </a:t>
            </a:r>
            <a:r>
              <a:rPr dirty="0">
                <a:solidFill>
                  <a:srgbClr val="902000"/>
                </a:solidFill>
                <a:latin typeface="Courier"/>
              </a:rPr>
              <a:t>"</a:t>
            </a:r>
            <a:r>
              <a:rPr dirty="0" err="1">
                <a:solidFill>
                  <a:srgbClr val="902000"/>
                </a:solidFill>
                <a:latin typeface="Courier"/>
              </a:rPr>
              <a:t>SensorTypeCode</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70A0"/>
                </a:solidFill>
                <a:latin typeface="Courier"/>
              </a:rPr>
              <a:t>"temperature"</a:t>
            </a:r>
            <a:r>
              <a:rPr dirty="0">
                <a:solidFill>
                  <a:srgbClr val="06287E"/>
                </a:solidFill>
                <a:latin typeface="Courier"/>
              </a:rPr>
              <a:t>,</a:t>
            </a:r>
            <a:r>
              <a:rPr dirty="0">
                <a:latin typeface="Courier"/>
              </a:rPr>
              <a:t> </a:t>
            </a:r>
            <a:r>
              <a:rPr dirty="0">
                <a:solidFill>
                  <a:srgbClr val="902000"/>
                </a:solidFill>
                <a:latin typeface="Courier"/>
              </a:rPr>
              <a:t>"</a:t>
            </a:r>
            <a:r>
              <a:rPr dirty="0" err="1">
                <a:solidFill>
                  <a:srgbClr val="902000"/>
                </a:solidFill>
                <a:latin typeface="Courier"/>
              </a:rPr>
              <a:t>LocationID</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70A0"/>
                </a:solidFill>
                <a:latin typeface="Courier"/>
              </a:rPr>
              <a:t>"A1.005"</a:t>
            </a:r>
            <a:r>
              <a:rPr dirty="0">
                <a:solidFill>
                  <a:srgbClr val="06287E"/>
                </a:solidFill>
                <a:latin typeface="Courier"/>
              </a:rPr>
              <a:t>,</a:t>
            </a:r>
            <a:br>
              <a:rPr dirty="0"/>
            </a:br>
            <a:r>
              <a:rPr dirty="0">
                <a:latin typeface="Courier"/>
              </a:rPr>
              <a:t>  </a:t>
            </a:r>
            <a:r>
              <a:rPr dirty="0">
                <a:solidFill>
                  <a:srgbClr val="902000"/>
                </a:solidFill>
                <a:latin typeface="Courier"/>
              </a:rPr>
              <a:t>"</a:t>
            </a:r>
            <a:r>
              <a:rPr dirty="0" err="1">
                <a:solidFill>
                  <a:srgbClr val="902000"/>
                </a:solidFill>
                <a:latin typeface="Courier"/>
              </a:rPr>
              <a:t>MeasureContent</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A070"/>
                </a:solidFill>
                <a:latin typeface="Courier"/>
              </a:rPr>
              <a:t>26.18</a:t>
            </a:r>
            <a:r>
              <a:rPr dirty="0">
                <a:solidFill>
                  <a:srgbClr val="06287E"/>
                </a:solidFill>
                <a:latin typeface="Courier"/>
              </a:rPr>
              <a:t>,</a:t>
            </a:r>
            <a:r>
              <a:rPr dirty="0">
                <a:latin typeface="Courier"/>
              </a:rPr>
              <a:t> </a:t>
            </a:r>
            <a:r>
              <a:rPr dirty="0">
                <a:solidFill>
                  <a:srgbClr val="902000"/>
                </a:solidFill>
                <a:latin typeface="Courier"/>
              </a:rPr>
              <a:t>"</a:t>
            </a:r>
            <a:r>
              <a:rPr dirty="0" err="1">
                <a:solidFill>
                  <a:srgbClr val="902000"/>
                </a:solidFill>
                <a:latin typeface="Courier"/>
              </a:rPr>
              <a:t>MeasureUnitCode</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70A0"/>
                </a:solidFill>
                <a:latin typeface="Courier"/>
              </a:rPr>
              <a:t>"°C"</a:t>
            </a:r>
            <a:r>
              <a:rPr dirty="0">
                <a:solidFill>
                  <a:srgbClr val="06287E"/>
                </a:solidFill>
                <a:latin typeface="Courier"/>
              </a:rPr>
              <a:t>,</a:t>
            </a:r>
            <a:br>
              <a:rPr dirty="0"/>
            </a:br>
            <a:r>
              <a:rPr dirty="0">
                <a:latin typeface="Courier"/>
              </a:rPr>
              <a:t>  </a:t>
            </a:r>
            <a:r>
              <a:rPr dirty="0">
                <a:solidFill>
                  <a:srgbClr val="902000"/>
                </a:solidFill>
                <a:latin typeface="Courier"/>
              </a:rPr>
              <a:t>"</a:t>
            </a:r>
            <a:r>
              <a:rPr dirty="0" err="1">
                <a:solidFill>
                  <a:srgbClr val="902000"/>
                </a:solidFill>
                <a:latin typeface="Courier"/>
              </a:rPr>
              <a:t>DateTime</a:t>
            </a:r>
            <a:r>
              <a:rPr dirty="0">
                <a:solidFill>
                  <a:srgbClr val="902000"/>
                </a:solidFill>
                <a:latin typeface="Courier"/>
              </a:rPr>
              <a:t>"</a:t>
            </a:r>
            <a:r>
              <a:rPr dirty="0">
                <a:solidFill>
                  <a:srgbClr val="06287E"/>
                </a:solidFill>
                <a:latin typeface="Courier"/>
              </a:rPr>
              <a:t>:</a:t>
            </a:r>
            <a:r>
              <a:rPr dirty="0">
                <a:latin typeface="Courier"/>
              </a:rPr>
              <a:t> </a:t>
            </a:r>
            <a:r>
              <a:rPr dirty="0">
                <a:solidFill>
                  <a:srgbClr val="4070A0"/>
                </a:solidFill>
                <a:latin typeface="Courier"/>
              </a:rPr>
              <a:t>"2026-05-29T10:50:01.741Z"</a:t>
            </a:r>
            <a:r>
              <a:rPr dirty="0">
                <a:latin typeface="Courier"/>
              </a:rPr>
              <a:t> </a:t>
            </a:r>
            <a:r>
              <a:rPr dirty="0">
                <a:solidFill>
                  <a:srgbClr val="06287E"/>
                </a:solidFill>
                <a:latin typeface="Courier"/>
              </a:rPr>
              <a:t>}</a:t>
            </a:r>
            <a:r>
              <a:rPr dirty="0">
                <a:latin typeface="Courier"/>
              </a:rPr>
              <a:t> </a:t>
            </a:r>
            <a:r>
              <a:rPr dirty="0">
                <a:solidFill>
                  <a:srgbClr val="06287E"/>
                </a:solidFill>
                <a:latin typeface="Courier"/>
              </a:rPr>
              <a:t>}</a:t>
            </a:r>
          </a:p>
        </p:txBody>
      </p:sp>
      <p:pic>
        <p:nvPicPr>
          <p:cNvPr id="2" name="Picture 1" descr="Image%2029.05.26%20at%2012.50.png"/>
          <p:cNvPicPr>
            <a:picLocks noGrp="1" noChangeAspect="1"/>
          </p:cNvPicPr>
          <p:nvPr/>
        </p:nvPicPr>
        <p:blipFill>
          <a:blip r:embed="rId3"/>
          <a:stretch>
            <a:fillRect/>
          </a:stretch>
        </p:blipFill>
        <p:spPr bwMode="auto">
          <a:xfrm>
            <a:off x="3568700" y="1143000"/>
            <a:ext cx="5105400" cy="1993900"/>
          </a:xfrm>
          <a:prstGeom prst="rect">
            <a:avLst/>
          </a:prstGeom>
          <a:noFill/>
          <a:ln w="9525">
            <a:noFill/>
            <a:headEnd/>
            <a:tailEnd/>
          </a:ln>
        </p:spPr>
      </p:pic>
      <p:sp>
        <p:nvSpPr>
          <p:cNvPr id="3" name="TextBox 3"/>
          <p:cNvSpPr txBox="1">
            <a:spLocks noGrp="1"/>
          </p:cNvSpPr>
          <p:nvPr>
            <p:ph idx="1"/>
          </p:nvPr>
        </p:nvSpPr>
        <p:spPr>
          <a:xfrm>
            <a:off x="3568700" y="4076700"/>
            <a:ext cx="5105400" cy="508000"/>
          </a:xfrm>
          <a:prstGeom prst="rect">
            <a:avLst/>
          </a:prstGeom>
          <a:noFill/>
        </p:spPr>
        <p:txBody>
          <a:bodyPr/>
          <a:lstStyle/>
          <a:p>
            <a:pPr marL="0" lvl="0" indent="0" algn="ctr">
              <a:buNone/>
            </a:pPr>
            <a:r>
              <a:t>MQTT Broker mit Observation-Nachrichten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Node-RED Flow: Überblick</a:t>
            </a:r>
          </a:p>
        </p:txBody>
      </p:sp>
      <p:pic>
        <p:nvPicPr>
          <p:cNvPr id="4" name="Picture 1" descr="Bildschirmfoto%202026-05-29%20um%2012.47.58.png"/>
          <p:cNvPicPr>
            <a:picLocks noGrp="1" noChangeAspect="1"/>
          </p:cNvPicPr>
          <p:nvPr/>
        </p:nvPicPr>
        <p:blipFill>
          <a:blip r:embed="rId3"/>
          <a:stretch>
            <a:fillRect/>
          </a:stretch>
        </p:blipFill>
        <p:spPr bwMode="auto">
          <a:xfrm>
            <a:off x="1752600" y="1193800"/>
            <a:ext cx="5638800" cy="2882900"/>
          </a:xfrm>
          <a:prstGeom prst="rect">
            <a:avLst/>
          </a:prstGeom>
          <a:noFill/>
          <a:ln w="9525">
            <a:noFill/>
            <a:headEnd/>
            <a:tailEnd/>
          </a:ln>
        </p:spPr>
      </p:pic>
      <p:sp>
        <p:nvSpPr>
          <p:cNvPr id="5" name="TextBox 3"/>
          <p:cNvSpPr txBox="1">
            <a:spLocks noGrp="1"/>
          </p:cNvSpPr>
          <p:nvPr>
            <p:ph idx="1"/>
          </p:nvPr>
        </p:nvSpPr>
        <p:spPr>
          <a:xfrm>
            <a:off x="457200" y="4076700"/>
            <a:ext cx="8229600" cy="508000"/>
          </a:xfrm>
          <a:prstGeom prst="rect">
            <a:avLst/>
          </a:prstGeom>
          <a:noFill/>
        </p:spPr>
        <p:txBody>
          <a:bodyPr/>
          <a:lstStyle/>
          <a:p>
            <a:pPr marL="0" lvl="0" indent="0" algn="ctr">
              <a:buNone/>
            </a:pPr>
            <a:r>
              <a:t>Node-RED Flow Gruppe 2</a:t>
            </a:r>
          </a:p>
        </p:txBody>
      </p:sp>
      <p:sp>
        <p:nvSpPr>
          <p:cNvPr id="3" name="Content Placeholder 2"/>
          <p:cNvSpPr>
            <a:spLocks noGrp="1"/>
          </p:cNvSpPr>
          <p:nvPr>
            <p:ph idx="1"/>
          </p:nvPr>
        </p:nvSpPr>
        <p:spPr/>
        <p:txBody>
          <a:bodyPr/>
          <a:lstStyle/>
          <a:p>
            <a:pPr marL="0" lvl="0" indent="0">
              <a:buNone/>
            </a:pPr>
            <a:r>
              <a:rPr b="1"/>
              <a:t>Flow-Struktur:</a:t>
            </a:r>
          </a:p>
          <a:p>
            <a:pPr marL="342900" lvl="0" indent="-342900">
              <a:buAutoNum type="arabicPeriod"/>
            </a:pPr>
            <a:r>
              <a:rPr b="1"/>
              <a:t>MQTT Input „BL-Sensor”</a:t>
            </a:r>
            <a:r>
              <a:t> → Topic </a:t>
            </a:r>
            <a:r>
              <a:rPr>
                <a:latin typeface="Courier"/>
              </a:rPr>
              <a:t>Sensor</a:t>
            </a:r>
            <a:r>
              <a:t>, QoS 2</a:t>
            </a:r>
          </a:p>
          <a:p>
            <a:pPr marL="342900" lvl="0" indent="-342900">
              <a:buAutoNum type="arabicPeriod"/>
            </a:pPr>
            <a:r>
              <a:rPr b="1"/>
              <a:t>Switch „Splitter”</a:t>
            </a:r>
            <a:r>
              <a:t> → verteilt nach </a:t>
            </a:r>
            <a:r>
              <a:rPr>
                <a:latin typeface="Courier"/>
              </a:rPr>
              <a:t>payload.type</a:t>
            </a:r>
            <a:r>
              <a:t> auf 4 Zweige</a:t>
            </a:r>
          </a:p>
          <a:p>
            <a:pPr marL="342900" lvl="0" indent="-342900">
              <a:buAutoNum type="arabicPeriod"/>
            </a:pPr>
            <a:r>
              <a:rPr b="1"/>
              <a:t>Delay-Node</a:t>
            </a:r>
            <a:r>
              <a:t> → Rate-Limiter: max. 1 Nachricht/Minute</a:t>
            </a:r>
          </a:p>
          <a:p>
            <a:pPr marL="342900" lvl="0" indent="-342900">
              <a:buAutoNum type="arabicPeriod"/>
            </a:pPr>
            <a:r>
              <a:rPr b="1"/>
              <a:t>Function „MSG-Edit”</a:t>
            </a:r>
            <a:r>
              <a:t> → formatiert Observation-Payload</a:t>
            </a:r>
          </a:p>
          <a:p>
            <a:pPr marL="342900" lvl="0" indent="-342900">
              <a:buAutoNum type="arabicPeriod"/>
            </a:pPr>
            <a:r>
              <a:rPr b="1"/>
              <a:t>MQTT Output</a:t>
            </a:r>
            <a:r>
              <a:t> → publiziert auf </a:t>
            </a:r>
            <a:r>
              <a:rPr>
                <a:latin typeface="Courier"/>
              </a:rPr>
              <a:t>Factory/ConditionMonitoring/*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Node-RED: Rate-Limiting &amp; Payload-Transformation</a:t>
            </a:r>
          </a:p>
        </p:txBody>
      </p:sp>
      <p:sp>
        <p:nvSpPr>
          <p:cNvPr id="3" name="Content Placeholder 2"/>
          <p:cNvSpPr>
            <a:spLocks noGrp="1"/>
          </p:cNvSpPr>
          <p:nvPr>
            <p:ph idx="1"/>
          </p:nvPr>
        </p:nvSpPr>
        <p:spPr/>
        <p:txBody>
          <a:bodyPr/>
          <a:lstStyle/>
          <a:p>
            <a:pPr marL="0" lvl="0" indent="0">
              <a:buNone/>
            </a:pPr>
            <a:r>
              <a:rPr b="1"/>
              <a:t>Rate-Limiting (Delay-Node, </a:t>
            </a:r>
            <a:r>
              <a:rPr b="1">
                <a:latin typeface="Courier"/>
              </a:rPr>
              <a:t>drop: true</a:t>
            </a:r>
            <a:r>
              <a:rPr b="1"/>
              <a:t>):</a:t>
            </a:r>
          </a:p>
          <a:p>
            <a:pPr lvl="0"/>
            <a:r>
              <a:t>SensorTag sendet mehrfach pro Sekunde</a:t>
            </a:r>
          </a:p>
          <a:p>
            <a:pPr lvl="0"/>
            <a:r>
              <a:t>Rate-Limiter: </a:t>
            </a:r>
            <a:r>
              <a:rPr b="1"/>
              <a:t>1 Nachricht/Minute</a:t>
            </a:r>
            <a:r>
              <a:t> → ~98 % Datenreduktion</a:t>
            </a:r>
          </a:p>
          <a:p>
            <a:pPr lvl="0"/>
            <a:r>
              <a:t>Sensortyp Licht: 1 Nachricht / 10 Sekunden (feinere Auflösung)</a:t>
            </a:r>
          </a:p>
          <a:p>
            <a:pPr marL="0" lvl="0" indent="0">
              <a:buNone/>
            </a:pPr>
            <a:r>
              <a:rPr b="1"/>
              <a:t>Splitter: JSONata-Ausdrücke</a:t>
            </a:r>
          </a:p>
          <a:p>
            <a:pPr lvl="0" indent="0">
              <a:buNone/>
            </a:pPr>
            <a:r>
              <a:rPr>
                <a:latin typeface="Courier"/>
              </a:rPr>
              <a:t>payload.type = "temperature"   →  Zweig Temperatur
payload.type = "humidity"      →  Zweig Luftfeuchtigkeit
payload.type = "lux"           →  Zweig Licht
payload.type = "pressure_hpa"  →  Zweig Luftdruck</a:t>
            </a:r>
          </a:p>
          <a:p>
            <a:pPr marL="0" lvl="0" indent="0">
              <a:buNone/>
            </a:pPr>
            <a:r>
              <a:rPr b="1"/>
              <a:t>MSG-Edit Function (JavaScript):</a:t>
            </a:r>
          </a:p>
          <a:p>
            <a:pPr lvl="0" indent="0">
              <a:buNone/>
            </a:pPr>
            <a:r>
              <a:rPr>
                <a:latin typeface="Courier"/>
              </a:rPr>
              <a:t>msg</a:t>
            </a:r>
            <a:r>
              <a:rPr>
                <a:solidFill>
                  <a:srgbClr val="666666"/>
                </a:solidFill>
                <a:latin typeface="Courier"/>
              </a:rPr>
              <a:t>.</a:t>
            </a:r>
            <a:r>
              <a:rPr>
                <a:solidFill>
                  <a:srgbClr val="7D9029"/>
                </a:solidFill>
                <a:latin typeface="Courier"/>
              </a:rPr>
              <a:t>payload</a:t>
            </a:r>
            <a:r>
              <a:rPr>
                <a:latin typeface="Courier"/>
              </a:rPr>
              <a:t> </a:t>
            </a:r>
            <a:r>
              <a:rPr>
                <a:solidFill>
                  <a:srgbClr val="666666"/>
                </a:solidFill>
                <a:latin typeface="Courier"/>
              </a:rPr>
              <a:t>=</a:t>
            </a:r>
            <a:r>
              <a:rPr>
                <a:latin typeface="Courier"/>
              </a:rPr>
              <a:t> { </a:t>
            </a:r>
            <a:r>
              <a:rPr>
                <a:solidFill>
                  <a:srgbClr val="902000"/>
                </a:solidFill>
                <a:latin typeface="Courier"/>
              </a:rPr>
              <a:t>Observation</a:t>
            </a:r>
            <a:r>
              <a:rPr>
                <a:solidFill>
                  <a:srgbClr val="666666"/>
                </a:solidFill>
                <a:latin typeface="Courier"/>
              </a:rPr>
              <a:t>:</a:t>
            </a:r>
            <a:r>
              <a:rPr>
                <a:latin typeface="Courier"/>
              </a:rPr>
              <a:t> {</a:t>
            </a:r>
            <a:br/>
            <a:r>
              <a:rPr>
                <a:latin typeface="Courier"/>
              </a:rPr>
              <a:t>    </a:t>
            </a:r>
            <a:r>
              <a:rPr>
                <a:solidFill>
                  <a:srgbClr val="902000"/>
                </a:solidFill>
                <a:latin typeface="Courier"/>
              </a:rPr>
              <a:t>MachineID</a:t>
            </a:r>
            <a:r>
              <a:rPr>
                <a:solidFill>
                  <a:srgbClr val="666666"/>
                </a:solidFill>
                <a:latin typeface="Courier"/>
              </a:rPr>
              <a:t>:</a:t>
            </a:r>
            <a:r>
              <a:rPr>
                <a:latin typeface="Courier"/>
              </a:rPr>
              <a:t> </a:t>
            </a:r>
            <a:r>
              <a:rPr>
                <a:solidFill>
                  <a:srgbClr val="4070A0"/>
                </a:solidFill>
                <a:latin typeface="Courier"/>
              </a:rPr>
              <a:t>"CC2650STK"</a:t>
            </a:r>
            <a:r>
              <a:rPr>
                <a:solidFill>
                  <a:srgbClr val="666666"/>
                </a:solidFill>
                <a:latin typeface="Courier"/>
              </a:rPr>
              <a:t>,</a:t>
            </a:r>
            <a:br/>
            <a:r>
              <a:rPr>
                <a:latin typeface="Courier"/>
              </a:rPr>
              <a:t>    </a:t>
            </a:r>
            <a:r>
              <a:rPr>
                <a:solidFill>
                  <a:srgbClr val="902000"/>
                </a:solidFill>
                <a:latin typeface="Courier"/>
              </a:rPr>
              <a:t>SensorTypeCode</a:t>
            </a:r>
            <a:r>
              <a:rPr>
                <a:solidFill>
                  <a:srgbClr val="666666"/>
                </a:solidFill>
                <a:latin typeface="Courier"/>
              </a:rPr>
              <a:t>:</a:t>
            </a:r>
            <a:r>
              <a:rPr>
                <a:latin typeface="Courier"/>
              </a:rPr>
              <a:t> msg</a:t>
            </a:r>
            <a:r>
              <a:rPr>
                <a:solidFill>
                  <a:srgbClr val="666666"/>
                </a:solidFill>
                <a:latin typeface="Courier"/>
              </a:rPr>
              <a:t>.</a:t>
            </a:r>
            <a:r>
              <a:rPr>
                <a:solidFill>
                  <a:srgbClr val="7D9029"/>
                </a:solidFill>
                <a:latin typeface="Courier"/>
              </a:rPr>
              <a:t>payload</a:t>
            </a:r>
            <a:r>
              <a:rPr>
                <a:solidFill>
                  <a:srgbClr val="666666"/>
                </a:solidFill>
                <a:latin typeface="Courier"/>
              </a:rPr>
              <a:t>.</a:t>
            </a:r>
            <a:r>
              <a:rPr>
                <a:solidFill>
                  <a:srgbClr val="7D9029"/>
                </a:solidFill>
                <a:latin typeface="Courier"/>
              </a:rPr>
              <a:t>type</a:t>
            </a:r>
            <a:r>
              <a:rPr>
                <a:solidFill>
                  <a:srgbClr val="666666"/>
                </a:solidFill>
                <a:latin typeface="Courier"/>
              </a:rPr>
              <a:t>,</a:t>
            </a:r>
            <a:br/>
            <a:r>
              <a:rPr>
                <a:latin typeface="Courier"/>
              </a:rPr>
              <a:t>    </a:t>
            </a:r>
            <a:r>
              <a:rPr>
                <a:solidFill>
                  <a:srgbClr val="902000"/>
                </a:solidFill>
                <a:latin typeface="Courier"/>
              </a:rPr>
              <a:t>LocationID</a:t>
            </a:r>
            <a:r>
              <a:rPr>
                <a:solidFill>
                  <a:srgbClr val="666666"/>
                </a:solidFill>
                <a:latin typeface="Courier"/>
              </a:rPr>
              <a:t>:</a:t>
            </a:r>
            <a:r>
              <a:rPr>
                <a:latin typeface="Courier"/>
              </a:rPr>
              <a:t> </a:t>
            </a:r>
            <a:r>
              <a:rPr>
                <a:solidFill>
                  <a:srgbClr val="4070A0"/>
                </a:solidFill>
                <a:latin typeface="Courier"/>
              </a:rPr>
              <a:t>"A1.005"</a:t>
            </a:r>
            <a:r>
              <a:rPr>
                <a:solidFill>
                  <a:srgbClr val="666666"/>
                </a:solidFill>
                <a:latin typeface="Courier"/>
              </a:rPr>
              <a:t>,</a:t>
            </a:r>
            <a:br/>
            <a:r>
              <a:rPr>
                <a:latin typeface="Courier"/>
              </a:rPr>
              <a:t>    </a:t>
            </a:r>
            <a:r>
              <a:rPr>
                <a:solidFill>
                  <a:srgbClr val="902000"/>
                </a:solidFill>
                <a:latin typeface="Courier"/>
              </a:rPr>
              <a:t>MeasureContent</a:t>
            </a:r>
            <a:r>
              <a:rPr>
                <a:solidFill>
                  <a:srgbClr val="666666"/>
                </a:solidFill>
                <a:latin typeface="Courier"/>
              </a:rPr>
              <a:t>:</a:t>
            </a:r>
            <a:r>
              <a:rPr>
                <a:latin typeface="Courier"/>
              </a:rPr>
              <a:t> msg</a:t>
            </a:r>
            <a:r>
              <a:rPr>
                <a:solidFill>
                  <a:srgbClr val="666666"/>
                </a:solidFill>
                <a:latin typeface="Courier"/>
              </a:rPr>
              <a:t>.</a:t>
            </a:r>
            <a:r>
              <a:rPr>
                <a:solidFill>
                  <a:srgbClr val="7D9029"/>
                </a:solidFill>
                <a:latin typeface="Courier"/>
              </a:rPr>
              <a:t>payload</a:t>
            </a:r>
            <a:r>
              <a:rPr>
                <a:solidFill>
                  <a:srgbClr val="666666"/>
                </a:solidFill>
                <a:latin typeface="Courier"/>
              </a:rPr>
              <a:t>.</a:t>
            </a:r>
            <a:r>
              <a:rPr>
                <a:solidFill>
                  <a:srgbClr val="7D9029"/>
                </a:solidFill>
                <a:latin typeface="Courier"/>
              </a:rPr>
              <a:t>value</a:t>
            </a:r>
            <a:r>
              <a:rPr>
                <a:solidFill>
                  <a:srgbClr val="666666"/>
                </a:solidFill>
                <a:latin typeface="Courier"/>
              </a:rPr>
              <a:t>,</a:t>
            </a:r>
            <a:br/>
            <a:r>
              <a:rPr>
                <a:latin typeface="Courier"/>
              </a:rPr>
              <a:t>    </a:t>
            </a:r>
            <a:r>
              <a:rPr>
                <a:solidFill>
                  <a:srgbClr val="902000"/>
                </a:solidFill>
                <a:latin typeface="Courier"/>
              </a:rPr>
              <a:t>MeasureUnitCode</a:t>
            </a:r>
            <a:r>
              <a:rPr>
                <a:solidFill>
                  <a:srgbClr val="666666"/>
                </a:solidFill>
                <a:latin typeface="Courier"/>
              </a:rPr>
              <a:t>:</a:t>
            </a:r>
            <a:r>
              <a:rPr>
                <a:latin typeface="Courier"/>
              </a:rPr>
              <a:t> </a:t>
            </a:r>
            <a:r>
              <a:rPr>
                <a:solidFill>
                  <a:srgbClr val="4070A0"/>
                </a:solidFill>
                <a:latin typeface="Courier"/>
              </a:rPr>
              <a:t>"°C"</a:t>
            </a:r>
            <a:r>
              <a:rPr>
                <a:solidFill>
                  <a:srgbClr val="666666"/>
                </a:solidFill>
                <a:latin typeface="Courier"/>
              </a:rPr>
              <a:t>,</a:t>
            </a:r>
            <a:br/>
            <a:r>
              <a:rPr>
                <a:latin typeface="Courier"/>
              </a:rPr>
              <a:t>    </a:t>
            </a:r>
            <a:r>
              <a:rPr>
                <a:solidFill>
                  <a:srgbClr val="902000"/>
                </a:solidFill>
                <a:latin typeface="Courier"/>
              </a:rPr>
              <a:t>DateTime</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Date</a:t>
            </a:r>
            <a:r>
              <a:rPr>
                <a:latin typeface="Courier"/>
              </a:rPr>
              <a:t>(msg</a:t>
            </a:r>
            <a:r>
              <a:rPr>
                <a:solidFill>
                  <a:srgbClr val="666666"/>
                </a:solidFill>
                <a:latin typeface="Courier"/>
              </a:rPr>
              <a:t>.</a:t>
            </a:r>
            <a:r>
              <a:rPr>
                <a:solidFill>
                  <a:srgbClr val="7D9029"/>
                </a:solidFill>
                <a:latin typeface="Courier"/>
              </a:rPr>
              <a:t>payload</a:t>
            </a:r>
            <a:r>
              <a:rPr>
                <a:solidFill>
                  <a:srgbClr val="666666"/>
                </a:solidFill>
                <a:latin typeface="Courier"/>
              </a:rPr>
              <a:t>.</a:t>
            </a:r>
            <a:r>
              <a:rPr>
                <a:solidFill>
                  <a:srgbClr val="7D9029"/>
                </a:solidFill>
                <a:latin typeface="Courier"/>
              </a:rPr>
              <a:t>timestamp</a:t>
            </a:r>
            <a:r>
              <a:rPr>
                <a:latin typeface="Courier"/>
              </a:rPr>
              <a:t> </a:t>
            </a:r>
            <a:r>
              <a:rPr>
                <a:solidFill>
                  <a:srgbClr val="666666"/>
                </a:solidFill>
                <a:latin typeface="Courier"/>
              </a:rPr>
              <a:t>*</a:t>
            </a:r>
            <a:r>
              <a:rPr>
                <a:latin typeface="Courier"/>
              </a:rPr>
              <a:t> </a:t>
            </a:r>
            <a:r>
              <a:rPr>
                <a:solidFill>
                  <a:srgbClr val="40A070"/>
                </a:solidFill>
                <a:latin typeface="Courier"/>
              </a:rPr>
              <a:t>1000</a:t>
            </a:r>
            <a:r>
              <a:rPr>
                <a:latin typeface="Courier"/>
              </a:rPr>
              <a:t>)</a:t>
            </a:r>
            <a:r>
              <a:rPr>
                <a:solidFill>
                  <a:srgbClr val="666666"/>
                </a:solidFill>
                <a:latin typeface="Courier"/>
              </a:rPr>
              <a:t>.</a:t>
            </a:r>
            <a:r>
              <a:rPr>
                <a:solidFill>
                  <a:srgbClr val="06287E"/>
                </a:solidFill>
                <a:latin typeface="Courier"/>
              </a:rPr>
              <a:t>toISOString</a:t>
            </a:r>
            <a:r>
              <a:rPr>
                <a:latin typeface="Courier"/>
              </a:rPr>
              <a:t>()</a:t>
            </a:r>
            <a:br/>
            <a:r>
              <a:rPr>
                <a:latin typeface="Courier"/>
              </a:rPr>
              <a:t>}}</a:t>
            </a:r>
            <a:r>
              <a:rPr>
                <a:solidFill>
                  <a:srgbClr val="666666"/>
                </a:solidFill>
                <a:latin typeface="Courier"/>
              </a:rPr>
              <a:t>;</a:t>
            </a:r>
            <a:br/>
            <a:r>
              <a:rPr b="1">
                <a:solidFill>
                  <a:srgbClr val="007020"/>
                </a:solidFill>
                <a:latin typeface="Courier"/>
              </a:rPr>
              <a:t>return</a:t>
            </a:r>
            <a:r>
              <a:rPr>
                <a:latin typeface="Courier"/>
              </a:rPr>
              <a:t> msg</a:t>
            </a:r>
            <a:r>
              <a:rPr>
                <a:solidFill>
                  <a:srgbClr val="666666"/>
                </a:solidFill>
                <a:latin typeface="Courier"/>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Alarm- und Trendlogik</a:t>
            </a:r>
          </a:p>
        </p:txBody>
      </p:sp>
      <p:sp>
        <p:nvSpPr>
          <p:cNvPr id="4" name="Text Placeholder 3"/>
          <p:cNvSpPr>
            <a:spLocks noGrp="1"/>
          </p:cNvSpPr>
          <p:nvPr>
            <p:ph type="body" sz="half" idx="2"/>
          </p:nvPr>
        </p:nvSpPr>
        <p:spPr/>
        <p:txBody>
          <a:bodyPr/>
          <a:lstStyle/>
          <a:p>
            <a:pPr marL="0" lvl="0" indent="0">
              <a:buNone/>
            </a:pPr>
            <a:r>
              <a:rPr b="1"/>
              <a:t>Temperatur-Alarm:</a:t>
            </a:r>
          </a:p>
          <a:p>
            <a:pPr lvl="0"/>
            <a:r>
              <a:t>&lt; 20°C → </a:t>
            </a:r>
            <a:r>
              <a:rPr i="1"/>
              <a:t>„Caution! Temperature is below 20 degrees.”</a:t>
            </a:r>
          </a:p>
          <a:p>
            <a:pPr lvl="0"/>
            <a:r>
              <a:t>&gt; 40°C → </a:t>
            </a:r>
            <a:r>
              <a:rPr i="1"/>
              <a:t>„Alarm! Temperature is above 40 degrees!“</a:t>
            </a:r>
          </a:p>
          <a:p>
            <a:pPr lvl="0"/>
            <a:r>
              <a:t>Max. 1 Alarm alle 30 Sekunden (Delay-Node verhindert Alarmflut)</a:t>
            </a:r>
          </a:p>
          <a:p>
            <a:pPr marL="0" lvl="0" indent="0">
              <a:buNone/>
            </a:pPr>
            <a:r>
              <a:rPr b="1"/>
              <a:t>Licht-Alarm:</a:t>
            </a:r>
          </a:p>
          <a:p>
            <a:pPr lvl="0"/>
            <a:r>
              <a:t>&lt; 1.500 lx → </a:t>
            </a:r>
            <a:r>
              <a:rPr i="1"/>
              <a:t>„Caution! It is getting darker!“</a:t>
            </a:r>
          </a:p>
          <a:p>
            <a:pPr lvl="0"/>
            <a:r>
              <a:t>&lt; 200 lx → </a:t>
            </a:r>
            <a:r>
              <a:rPr i="1"/>
              <a:t>„Alarm! I can’t see anything!“</a:t>
            </a:r>
          </a:p>
          <a:p>
            <a:pPr lvl="0"/>
            <a:r>
              <a:t>Max. 1 Alarm alle 10 Sekunden</a:t>
            </a:r>
          </a:p>
          <a:p>
            <a:pPr marL="0" lvl="0" indent="0">
              <a:buNone/>
            </a:pPr>
            <a:r>
              <a:rPr b="1"/>
              <a:t>Temperatur-Trendüberwachung:</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extLst>
                    <a:ext uri="{9D8B030D-6E8A-4147-A177-3AD203B41FA5}">
                      <a16:colId xmlns:a16="http://schemas.microsoft.com/office/drawing/2014/main" val="20000"/>
                    </a:ext>
                  </a:extLst>
                </a:gridCol>
                <a:gridCol w="2552700">
                  <a:extLst>
                    <a:ext uri="{9D8B030D-6E8A-4147-A177-3AD203B41FA5}">
                      <a16:colId xmlns:a16="http://schemas.microsoft.com/office/drawing/2014/main" val="20001"/>
                    </a:ext>
                  </a:extLst>
                </a:gridCol>
              </a:tblGrid>
              <a:tr h="0">
                <a:tc>
                  <a:txBody>
                    <a:bodyPr/>
                    <a:lstStyle/>
                    <a:p>
                      <a:pPr marL="0" lvl="0" indent="0">
                        <a:buNone/>
                      </a:pPr>
                      <a:r>
                        <a:t>Ereignis</a:t>
                      </a:r>
                    </a:p>
                  </a:txBody>
                  <a:tcPr/>
                </a:tc>
                <a:tc>
                  <a:txBody>
                    <a:bodyPr/>
                    <a:lstStyle/>
                    <a:p>
                      <a:pPr marL="0" lvl="0" indent="0">
                        <a:buNone/>
                      </a:pPr>
                      <a:r>
                        <a:t>Verhalten</a:t>
                      </a:r>
                    </a:p>
                  </a:txBody>
                  <a:tcPr/>
                </a:tc>
                <a:extLst>
                  <a:ext uri="{0D108BD9-81ED-4DB2-BD59-A6C34878D82A}">
                    <a16:rowId xmlns:a16="http://schemas.microsoft.com/office/drawing/2014/main" val="10000"/>
                  </a:ext>
                </a:extLst>
              </a:tr>
              <a:tr h="0">
                <a:tc>
                  <a:txBody>
                    <a:bodyPr/>
                    <a:lstStyle/>
                    <a:p>
                      <a:pPr marL="0" lvl="0" indent="0">
                        <a:buNone/>
                      </a:pPr>
                      <a:r>
                        <a:t>Wert gestiegen / gesunken</a:t>
                      </a:r>
                    </a:p>
                  </a:txBody>
                  <a:tcPr/>
                </a:tc>
                <a:tc>
                  <a:txBody>
                    <a:bodyPr/>
                    <a:lstStyle/>
                    <a:p>
                      <a:pPr marL="0" lvl="0" indent="0">
                        <a:buNone/>
                      </a:pPr>
                      <a:r>
                        <a:t>Delay 13 s → sofortige Aktualisierung</a:t>
                      </a:r>
                    </a:p>
                  </a:txBody>
                  <a:tcPr/>
                </a:tc>
                <a:extLst>
                  <a:ext uri="{0D108BD9-81ED-4DB2-BD59-A6C34878D82A}">
                    <a16:rowId xmlns:a16="http://schemas.microsoft.com/office/drawing/2014/main" val="10001"/>
                  </a:ext>
                </a:extLst>
              </a:tr>
              <a:tr h="0">
                <a:tc>
                  <a:txBody>
                    <a:bodyPr/>
                    <a:lstStyle/>
                    <a:p>
                      <a:pPr marL="0" lvl="0" indent="0">
                        <a:buNone/>
                      </a:pPr>
                      <a:r>
                        <a:t>Wert unverändert</a:t>
                      </a:r>
                    </a:p>
                  </a:txBody>
                  <a:tcPr/>
                </a:tc>
                <a:tc>
                  <a:txBody>
                    <a:bodyPr/>
                    <a:lstStyle/>
                    <a:p>
                      <a:pPr marL="0" lvl="0" indent="0">
                        <a:buNone/>
                      </a:pPr>
                      <a:r>
                        <a:t>Delay 1 min → reguläres Update</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t>→ Ereignisbasiertes Reporting: Änderungen sofort, Wiederholungen gedrosselt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Live-Demo</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Jetzt: Live-Demo</a:t>
            </a:r>
          </a:p>
        </p:txBody>
      </p:sp>
      <p:sp>
        <p:nvSpPr>
          <p:cNvPr id="3" name="Content Placeholder 2"/>
          <p:cNvSpPr>
            <a:spLocks noGrp="1"/>
          </p:cNvSpPr>
          <p:nvPr>
            <p:ph idx="1"/>
          </p:nvPr>
        </p:nvSpPr>
        <p:spPr/>
        <p:txBody>
          <a:bodyPr/>
          <a:lstStyle/>
          <a:p>
            <a:pPr marL="0" lvl="0" indent="0">
              <a:buNone/>
            </a:pPr>
            <a:r>
              <a:rPr b="1"/>
              <a:t>Wir zeigen das System in Betrieb.</a:t>
            </a:r>
          </a:p>
          <a:p>
            <a:pPr marL="0" lvl="0" indent="0">
              <a:buNone/>
            </a:pPr>
            <a:r>
              <a:t>Demo-Ablauf:</a:t>
            </a:r>
          </a:p>
          <a:p>
            <a:pPr marL="342900" lvl="0" indent="-342900">
              <a:buAutoNum type="arabicPeriod"/>
            </a:pPr>
            <a:r>
              <a:rPr>
                <a:latin typeface="Courier"/>
              </a:rPr>
              <a:t>sensor.py</a:t>
            </a:r>
            <a:r>
              <a:t> starten → BLE-Verbindung aufbauen</a:t>
            </a:r>
          </a:p>
          <a:p>
            <a:pPr marL="342900" lvl="0" indent="-342900">
              <a:buAutoNum type="arabicPeriod"/>
            </a:pPr>
            <a:r>
              <a:t>MQTT Explorer → Rohdaten auf Topic </a:t>
            </a:r>
            <a:r>
              <a:rPr>
                <a:latin typeface="Courier"/>
              </a:rPr>
              <a:t>Sensor</a:t>
            </a:r>
          </a:p>
          <a:p>
            <a:pPr marL="342900" lvl="0" indent="-342900">
              <a:buAutoNum type="arabicPeriod"/>
            </a:pPr>
            <a:r>
              <a:t>Node-RED Debug-Panel → verarbeitete Observations</a:t>
            </a:r>
          </a:p>
          <a:p>
            <a:pPr marL="342900" lvl="0" indent="-342900">
              <a:buAutoNum type="arabicPeriod"/>
            </a:pPr>
            <a:r>
              <a:t>Sensor </a:t>
            </a:r>
            <a:r>
              <a:rPr b="1"/>
              <a:t>erwärmen</a:t>
            </a:r>
            <a:r>
              <a:t> → Temperatur steigt → Trend-Switch reagiert</a:t>
            </a:r>
          </a:p>
          <a:p>
            <a:pPr marL="342900" lvl="0" indent="-342900">
              <a:buAutoNum type="arabicPeriod"/>
            </a:pPr>
            <a:r>
              <a:t>Sensor </a:t>
            </a:r>
            <a:r>
              <a:rPr b="1"/>
              <a:t>abdecken</a:t>
            </a:r>
            <a:r>
              <a:t> → Lux sinkt → Licht-Alarm, Sprachausgabe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marL="0" lvl="0" indent="0">
              <a:buNone/>
            </a:pPr>
            <a:r>
              <a:t>Fazit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Ergebnisse &amp; Zielerreichung</a:t>
            </a:r>
          </a:p>
        </p:txBody>
      </p:sp>
      <p:sp>
        <p:nvSpPr>
          <p:cNvPr id="3" name="Content Placeholder 2"/>
          <p:cNvSpPr>
            <a:spLocks noGrp="1"/>
          </p:cNvSpPr>
          <p:nvPr>
            <p:ph idx="1"/>
          </p:nvPr>
        </p:nvSpPr>
        <p:spPr/>
        <p:txBody>
          <a:bodyPr/>
          <a:lstStyle/>
          <a:p>
            <a:pPr marL="0" lvl="0" indent="0">
              <a:buNone/>
            </a:pPr>
            <a:r>
              <a:t>✅ </a:t>
            </a:r>
            <a:r>
              <a:rPr b="1"/>
              <a:t>Bluetooth-Verbindung:</a:t>
            </a:r>
            <a:r>
              <a:t> Stabile BLE-Verbindung zum TI CC2650 – alle vier Sensoren liefern kontinuierlich Messwerte</a:t>
            </a:r>
          </a:p>
          <a:p>
            <a:pPr marL="0" lvl="0" indent="0">
              <a:buNone/>
            </a:pPr>
            <a:r>
              <a:t>✅ </a:t>
            </a:r>
            <a:r>
              <a:rPr b="1"/>
              <a:t>MQTT-Anbindung:</a:t>
            </a:r>
            <a:r>
              <a:t> Rohdaten auf Topic </a:t>
            </a:r>
            <a:r>
              <a:rPr>
                <a:latin typeface="Courier"/>
              </a:rPr>
              <a:t>Sensor</a:t>
            </a:r>
            <a:r>
              <a:t>, verarbeitete Observations auf </a:t>
            </a:r>
            <a:r>
              <a:rPr>
                <a:latin typeface="Courier"/>
              </a:rPr>
              <a:t>Factory/ConditionMonitoring/*</a:t>
            </a:r>
          </a:p>
          <a:p>
            <a:pPr marL="0" lvl="0" indent="0">
              <a:buNone/>
            </a:pPr>
            <a:r>
              <a:t>✅ </a:t>
            </a:r>
            <a:r>
              <a:rPr b="1"/>
              <a:t>Node-RED Filterlogik:</a:t>
            </a:r>
            <a:r>
              <a:t> Rate-Limiting, Observation-Formatierung, Alarm- und Trendlogik funktionieren zuverlässig</a:t>
            </a:r>
          </a:p>
          <a:p>
            <a:pPr marL="0" lvl="0" indent="0">
              <a:buNone/>
            </a:pPr>
            <a:r>
              <a:t>✅ </a:t>
            </a:r>
            <a:r>
              <a:rPr b="1"/>
              <a:t>Integration:</a:t>
            </a:r>
            <a:r>
              <a:t> Alle Ausgangs-Topics werden von nachgelagerten Gruppen korrekt konsumiert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Herausforderungen</a:t>
            </a:r>
          </a:p>
        </p:txBody>
      </p:sp>
      <p:sp>
        <p:nvSpPr>
          <p:cNvPr id="3" name="Content Placeholder 2"/>
          <p:cNvSpPr>
            <a:spLocks noGrp="1"/>
          </p:cNvSpPr>
          <p:nvPr>
            <p:ph idx="1"/>
          </p:nvPr>
        </p:nvSpPr>
        <p:spPr/>
        <p:txBody>
          <a:bodyPr/>
          <a:lstStyle/>
          <a:p>
            <a:pPr marL="0" lvl="0" indent="0">
              <a:buNone/>
            </a:pPr>
            <a:r>
              <a:rPr b="1"/>
              <a:t>[TODO: Mit eigenen Erfahrungen befüllen]</a:t>
            </a:r>
          </a:p>
          <a:p>
            <a:pPr marL="0" lvl="0" indent="0">
              <a:buNone/>
            </a:pPr>
            <a:r>
              <a:rPr b="1"/>
              <a:t>Beispiel – Bluetooth-Verbindungsstabilität:</a:t>
            </a:r>
          </a:p>
          <a:p>
            <a:pPr lvl="0"/>
            <a:r>
              <a:t>Problem: [z. B. gelegentliche Abbrüche im 2,4-GHz-Umfeld]</a:t>
            </a:r>
          </a:p>
          <a:p>
            <a:pPr lvl="0"/>
            <a:r>
              <a:t>Lösung: [z. B. automatische Reconnect-Logik in sensor.py]</a:t>
            </a:r>
          </a:p>
          <a:p>
            <a:pPr marL="0" lvl="0" indent="0">
              <a:buNone/>
            </a:pPr>
            <a:r>
              <a:rPr b="1"/>
              <a:t>Beispiel – Topic-Koordination mit anderen Gruppen:</a:t>
            </a:r>
          </a:p>
          <a:p>
            <a:pPr lvl="0"/>
            <a:r>
              <a:t>Problem: unterschiedliche Anforderungen an das Payload-Format</a:t>
            </a:r>
          </a:p>
          <a:p>
            <a:pPr lvl="0"/>
            <a:r>
              <a:t>Lösung: gemeinsamer Abstimmungstermin → Festlegung des Observation-Formats</a:t>
            </a:r>
          </a:p>
          <a:p>
            <a:pPr marL="0" lvl="0" indent="0">
              <a:buNone/>
            </a:pPr>
            <a:r>
              <a:rPr b="1"/>
              <a:t>Beispiel – Zeitstempel-Konvertierung:</a:t>
            </a:r>
          </a:p>
          <a:p>
            <a:pPr lvl="0"/>
            <a:r>
              <a:t>Problem: Unix-Epoch-Float vs. erwarteter ISO-8601-String</a:t>
            </a:r>
          </a:p>
          <a:p>
            <a:pPr lvl="0"/>
            <a:r>
              <a:t>Lösung: </a:t>
            </a:r>
            <a:r>
              <a:rPr>
                <a:latin typeface="Courier"/>
              </a:rPr>
              <a:t>new Date(timestamp * 1000).toISOString()</a:t>
            </a:r>
            <a:r>
              <a:t> in Node-RED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marL="0" lvl="0" indent="0">
              <a:buNone/>
            </a:pPr>
            <a:r>
              <a:t>Kritische Würdigung &amp; Ausblick</a:t>
            </a:r>
          </a:p>
        </p:txBody>
      </p:sp>
      <p:sp>
        <p:nvSpPr>
          <p:cNvPr id="4" name="Text Placeholder 3"/>
          <p:cNvSpPr>
            <a:spLocks noGrp="1"/>
          </p:cNvSpPr>
          <p:nvPr>
            <p:ph type="body" sz="half" idx="2"/>
          </p:nvPr>
        </p:nvSpPr>
        <p:spPr/>
        <p:txBody>
          <a:bodyPr/>
          <a:lstStyle/>
          <a:p>
            <a:pPr marL="0" lvl="0" indent="0">
              <a:buNone/>
            </a:pPr>
            <a:r>
              <a:rPr b="1"/>
              <a:t>Technologiebewertung:</a:t>
            </a:r>
          </a:p>
        </p:txBody>
      </p:sp>
      <p:graphicFrame>
        <p:nvGraphicFramePr>
          <p:cNvPr id="6" name="Content Placeholder 5"/>
          <p:cNvGraphicFramePr>
            <a:graphicFrameLocks noGrp="1"/>
          </p:cNvGraphicFramePr>
          <p:nvPr>
            <p:ph idx="1"/>
          </p:nvPr>
        </p:nvGraphicFramePr>
        <p:xfrm>
          <a:off x="3568700" y="203200"/>
          <a:ext cx="5105400" cy="2217420"/>
        </p:xfrm>
        <a:graphic>
          <a:graphicData uri="http://schemas.openxmlformats.org/drawingml/2006/table">
            <a:tbl>
              <a:tblPr firstRow="1" bandRow="1">
                <a:tableStyleId>{5C22544A-7EE6-4342-B048-85BDC9FD1C3A}</a:tableStyleId>
              </a:tblPr>
              <a:tblGrid>
                <a:gridCol w="1701800">
                  <a:extLst>
                    <a:ext uri="{9D8B030D-6E8A-4147-A177-3AD203B41FA5}">
                      <a16:colId xmlns:a16="http://schemas.microsoft.com/office/drawing/2014/main" val="20000"/>
                    </a:ext>
                  </a:extLst>
                </a:gridCol>
                <a:gridCol w="1701800">
                  <a:extLst>
                    <a:ext uri="{9D8B030D-6E8A-4147-A177-3AD203B41FA5}">
                      <a16:colId xmlns:a16="http://schemas.microsoft.com/office/drawing/2014/main" val="20001"/>
                    </a:ext>
                  </a:extLst>
                </a:gridCol>
                <a:gridCol w="1701800">
                  <a:extLst>
                    <a:ext uri="{9D8B030D-6E8A-4147-A177-3AD203B41FA5}">
                      <a16:colId xmlns:a16="http://schemas.microsoft.com/office/drawing/2014/main" val="20002"/>
                    </a:ext>
                  </a:extLst>
                </a:gridCol>
              </a:tblGrid>
              <a:tr h="0">
                <a:tc>
                  <a:txBody>
                    <a:bodyPr/>
                    <a:lstStyle/>
                    <a:p>
                      <a:pPr marL="0" lvl="0" indent="0">
                        <a:buNone/>
                      </a:pPr>
                      <a:r>
                        <a:t>Technologie</a:t>
                      </a:r>
                    </a:p>
                  </a:txBody>
                  <a:tcPr/>
                </a:tc>
                <a:tc>
                  <a:txBody>
                    <a:bodyPr/>
                    <a:lstStyle/>
                    <a:p>
                      <a:pPr marL="0" lvl="0" indent="0">
                        <a:buNone/>
                      </a:pPr>
                      <a:r>
                        <a:t>Bewertung</a:t>
                      </a:r>
                    </a:p>
                  </a:txBody>
                  <a:tcPr/>
                </a:tc>
                <a:tc>
                  <a:txBody>
                    <a:bodyPr/>
                    <a:lstStyle/>
                    <a:p>
                      <a:pPr marL="0" lvl="0" indent="0">
                        <a:buNone/>
                      </a:pPr>
                      <a:r>
                        <a:t>Alternative bei Skalierung</a:t>
                      </a:r>
                    </a:p>
                  </a:txBody>
                  <a:tcPr/>
                </a:tc>
                <a:extLst>
                  <a:ext uri="{0D108BD9-81ED-4DB2-BD59-A6C34878D82A}">
                    <a16:rowId xmlns:a16="http://schemas.microsoft.com/office/drawing/2014/main" val="10000"/>
                  </a:ext>
                </a:extLst>
              </a:tr>
              <a:tr h="0">
                <a:tc>
                  <a:txBody>
                    <a:bodyPr/>
                    <a:lstStyle/>
                    <a:p>
                      <a:pPr marL="0" lvl="0" indent="0">
                        <a:buNone/>
                      </a:pPr>
                      <a:r>
                        <a:t>BLE</a:t>
                      </a:r>
                    </a:p>
                  </a:txBody>
                  <a:tcPr/>
                </a:tc>
                <a:tc>
                  <a:txBody>
                    <a:bodyPr/>
                    <a:lstStyle/>
                    <a:p>
                      <a:pPr marL="0" lvl="0" indent="0">
                        <a:buNone/>
                      </a:pPr>
                      <a:r>
                        <a:t>✅ Ideal für Laborumgebung</a:t>
                      </a:r>
                    </a:p>
                  </a:txBody>
                  <a:tcPr/>
                </a:tc>
                <a:tc>
                  <a:txBody>
                    <a:bodyPr/>
                    <a:lstStyle/>
                    <a:p>
                      <a:pPr marL="0" lvl="0" indent="0">
                        <a:buNone/>
                      </a:pPr>
                      <a:r>
                        <a:t>ZigBee (Mesh, größere Reichweite)</a:t>
                      </a:r>
                    </a:p>
                  </a:txBody>
                  <a:tcPr/>
                </a:tc>
                <a:extLst>
                  <a:ext uri="{0D108BD9-81ED-4DB2-BD59-A6C34878D82A}">
                    <a16:rowId xmlns:a16="http://schemas.microsoft.com/office/drawing/2014/main" val="10001"/>
                  </a:ext>
                </a:extLst>
              </a:tr>
              <a:tr h="0">
                <a:tc>
                  <a:txBody>
                    <a:bodyPr/>
                    <a:lstStyle/>
                    <a:p>
                      <a:pPr marL="0" lvl="0" indent="0">
                        <a:buNone/>
                      </a:pPr>
                      <a:r>
                        <a:t>MQTT</a:t>
                      </a:r>
                    </a:p>
                  </a:txBody>
                  <a:tcPr/>
                </a:tc>
                <a:tc>
                  <a:txBody>
                    <a:bodyPr/>
                    <a:lstStyle/>
                    <a:p>
                      <a:pPr marL="0" lvl="0" indent="0">
                        <a:buNone/>
                      </a:pPr>
                      <a:r>
                        <a:t>✅ Minimaler Overhead, lose Kopplung</a:t>
                      </a:r>
                    </a:p>
                  </a:txBody>
                  <a:tcPr/>
                </a:tc>
                <a:tc>
                  <a:txBody>
                    <a:bodyPr/>
                    <a:lstStyle/>
                    <a:p>
                      <a:pPr marL="0" lvl="0" indent="0">
                        <a:buNone/>
                      </a:pPr>
                      <a:r>
                        <a:t>– gut skalierbar</a:t>
                      </a:r>
                    </a:p>
                  </a:txBody>
                  <a:tcPr/>
                </a:tc>
                <a:extLst>
                  <a:ext uri="{0D108BD9-81ED-4DB2-BD59-A6C34878D82A}">
                    <a16:rowId xmlns:a16="http://schemas.microsoft.com/office/drawing/2014/main" val="10002"/>
                  </a:ext>
                </a:extLst>
              </a:tr>
              <a:tr h="0">
                <a:tc>
                  <a:txBody>
                    <a:bodyPr/>
                    <a:lstStyle/>
                    <a:p>
                      <a:pPr marL="0" lvl="0" indent="0">
                        <a:buNone/>
                      </a:pPr>
                      <a:r>
                        <a:t>Node-RED</a:t>
                      </a:r>
                    </a:p>
                  </a:txBody>
                  <a:tcPr/>
                </a:tc>
                <a:tc>
                  <a:txBody>
                    <a:bodyPr/>
                    <a:lstStyle/>
                    <a:p>
                      <a:pPr marL="0" lvl="0" indent="0">
                        <a:buNone/>
                      </a:pPr>
                      <a:r>
                        <a:t>✅ Schneller Prototyp</a:t>
                      </a:r>
                    </a:p>
                  </a:txBody>
                  <a:tcPr/>
                </a:tc>
                <a:tc>
                  <a:txBody>
                    <a:bodyPr/>
                    <a:lstStyle/>
                    <a:p>
                      <a:pPr marL="0" lvl="0" indent="0">
                        <a:buNone/>
                      </a:pPr>
                      <a:r>
                        <a:t>Apache Kafka (Produktion)</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rPr b="1"/>
              <a:t>Ausblick:</a:t>
            </a:r>
          </a:p>
          <a:p>
            <a:pPr lvl="0"/>
            <a:r>
              <a:rPr b="1"/>
              <a:t>Sicherheit:</a:t>
            </a:r>
            <a:r>
              <a:t> TLS/SSL (Port 8883), Client-Zertifikate</a:t>
            </a:r>
          </a:p>
          <a:p>
            <a:pPr lvl="0"/>
            <a:r>
              <a:rPr b="1"/>
              <a:t>Skalierung:</a:t>
            </a:r>
            <a:r>
              <a:t> Cluster-fähiger Broker (HiveMQ, EMQX)</a:t>
            </a:r>
          </a:p>
          <a:p>
            <a:pPr lvl="0"/>
            <a:r>
              <a:rPr b="1"/>
              <a:t>Erweiterte Analytik:</a:t>
            </a:r>
            <a:r>
              <a:t> ML-basierte Anomalieerkennung → Predictive Maintenance</a:t>
            </a:r>
          </a:p>
          <a:p>
            <a:pPr lvl="0"/>
            <a:r>
              <a:rPr b="1"/>
              <a:t>Digitaler Zwilling:</a:t>
            </a:r>
            <a:r>
              <a:t> vollständige IoT-4.0-Integration mit ThingsBoard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t>Vielen Dank für Ihre Aufmerksamkeit</a:t>
            </a:r>
          </a:p>
        </p:txBody>
      </p:sp>
      <p:sp>
        <p:nvSpPr>
          <p:cNvPr id="3" name="Content Placeholder 2"/>
          <p:cNvSpPr>
            <a:spLocks noGrp="1"/>
          </p:cNvSpPr>
          <p:nvPr>
            <p:ph idx="1"/>
          </p:nvPr>
        </p:nvSpPr>
        <p:spPr/>
        <p:txBody>
          <a:bodyPr/>
          <a:lstStyle/>
          <a:p>
            <a:pPr marL="0" lvl="0" indent="0">
              <a:buNone/>
            </a:pPr>
            <a:r>
              <a:rPr b="1"/>
              <a:t>Zusammenfassung:</a:t>
            </a:r>
          </a:p>
          <a:p>
            <a:pPr marL="342900" lvl="0" indent="-342900">
              <a:buAutoNum type="arabicPeriod"/>
            </a:pPr>
            <a:r>
              <a:t>Stabile BLE-Verbindung: TI CC2650 → Raspberry Pi → MQTT-Broker</a:t>
            </a:r>
          </a:p>
          <a:p>
            <a:pPr marL="342900" lvl="0" indent="-342900">
              <a:buAutoNum type="arabicPeriod"/>
            </a:pPr>
            <a:r>
              <a:t>Strukturierte Datenpipeline mit Node-RED: Filterung, Observation-Format, Alarmlogik</a:t>
            </a:r>
          </a:p>
          <a:p>
            <a:pPr marL="342900" lvl="0" indent="-342900">
              <a:buAutoNum type="arabicPeriod"/>
            </a:pPr>
            <a:r>
              <a:t>Nahtlose Integration mit nachgelagerten Gruppen über </a:t>
            </a:r>
            <a:r>
              <a:rPr>
                <a:latin typeface="Courier"/>
              </a:rPr>
              <a:t>Factory/ConditionMonitoring/*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lvl="0" indent="0">
              <a:buNone/>
            </a:pPr>
            <a:r>
              <a:rPr b="1"/>
              <a:t>Wir freuen uns auf Ihre Fragen.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2779</Words>
  <Application>Microsoft Macintosh PowerPoint</Application>
  <PresentationFormat>Bildschirmpräsentation (16:9)</PresentationFormat>
  <Paragraphs>247</Paragraphs>
  <Slides>29</Slides>
  <Notes>17</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29</vt:i4>
      </vt:variant>
    </vt:vector>
  </HeadingPairs>
  <TitlesOfParts>
    <vt:vector size="33" baseType="lpstr">
      <vt:lpstr>Arial</vt:lpstr>
      <vt:lpstr>Calibri</vt:lpstr>
      <vt:lpstr>Courier</vt:lpstr>
      <vt:lpstr>Office Theme</vt:lpstr>
      <vt:lpstr>TI Sensor Bluetooth- und MQTT-Anbindung</vt:lpstr>
      <vt:lpstr>Projektkontext &amp; Systemarchitektur</vt:lpstr>
      <vt:lpstr>Agenda</vt:lpstr>
      <vt:lpstr>Das Gesamtprojekt</vt:lpstr>
      <vt:lpstr>PowerPoint-Präsentation</vt:lpstr>
      <vt:lpstr>Aufgabe Gruppe 2: Drei Teilziele</vt:lpstr>
      <vt:lpstr>Systemarchitektur Gruppe 2</vt:lpstr>
      <vt:lpstr>Theoretische Grundlagen</vt:lpstr>
      <vt:lpstr>Bluetooth Low Energy (BLE)</vt:lpstr>
      <vt:lpstr>MQTT: Das wichtigste IoT-Protokoll</vt:lpstr>
      <vt:lpstr>Edge Computing &amp; Node-RED</vt:lpstr>
      <vt:lpstr>PowerPoint-Präsentation</vt:lpstr>
      <vt:lpstr>Implementierung</vt:lpstr>
      <vt:lpstr>Python: Bluetooth-Anbindung</vt:lpstr>
      <vt:lpstr>MQTT-Konfiguration &amp; Topics</vt:lpstr>
      <vt:lpstr>PowerPoint-Präsentation</vt:lpstr>
      <vt:lpstr>Node-RED Flow: Überblick</vt:lpstr>
      <vt:lpstr>Node-RED: Rate-Limiting &amp; Payload-Transformation</vt:lpstr>
      <vt:lpstr>Alarm- und Trendlogik</vt:lpstr>
      <vt:lpstr>PowerPoint-Präsentation</vt:lpstr>
      <vt:lpstr>Live-Demo</vt:lpstr>
      <vt:lpstr>Jetzt: Live-Demo</vt:lpstr>
      <vt:lpstr>Fazit</vt:lpstr>
      <vt:lpstr>Ergebnisse &amp; Zielerreichung</vt:lpstr>
      <vt:lpstr>Herausforderungen</vt:lpstr>
      <vt:lpstr>Kritische Würdigung &amp; Ausblick</vt:lpstr>
      <vt:lpstr>PowerPoint-Präsentation</vt:lpstr>
      <vt:lpstr>Vielen Dank für Ihre Aufmerksamkeit</vt:lpstr>
      <vt:lpstr>PowerPoint-Präsentation</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 Sensor Bluetooth- und MQTT-Anbindung</dc:title>
  <dc:creator>Gruppe 2 – MW220 IoT Technologien und Anwendungen</dc:creator>
  <cp:keywords/>
  <cp:lastModifiedBy>Heier, Adam</cp:lastModifiedBy>
  <cp:revision>1</cp:revision>
  <dcterms:created xsi:type="dcterms:W3CDTF">2026-05-31T21:20:11Z</dcterms:created>
  <dcterms:modified xsi:type="dcterms:W3CDTF">2026-05-31T21:22:20Z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11. Juni 2026</vt:lpwstr>
  </property>
  <property fmtid="{D5CDD505-2E9C-101B-9397-08002B2CF9AE}" pid="3" name="subtitle">
    <vt:lpwstr>Edge Computing mit Filterung der Sensordaten für die Zustandsüberwachung</vt:lpwstr>
  </property>
</Properties>
</file>